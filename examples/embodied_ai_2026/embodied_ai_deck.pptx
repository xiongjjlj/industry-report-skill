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概率分布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D4A574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C2626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2563EB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Bifurcation 基准</c:v>
                </c:pt>
                <c:pt idx="1">
                  <c:v>China-led</c:v>
                </c:pt>
                <c:pt idx="2">
                  <c:v>US-led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42.5</c:v>
                </c:pt>
                <c:pt idx="1">
                  <c:v>35</c:v>
                </c:pt>
                <c:pt idx="2">
                  <c:v>22.5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  <a:latin typeface="PingFang SC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00">
              <a:latin typeface="PingFang SC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2030 累计保有量（万台 installed base）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中国</c:v>
                </c:pt>
              </c:strCache>
            </c:strRef>
          </c:tx>
          <c:spPr>
            <a:solidFill>
              <a:srgbClr val="DC262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China-led</c:v>
                </c:pt>
                <c:pt idx="1">
                  <c:v>US-led</c:v>
                </c:pt>
                <c:pt idx="2">
                  <c:v>Bifurcation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30</c:v>
                </c:pt>
                <c:pt idx="2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美国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China-led</c:v>
                </c:pt>
                <c:pt idx="1">
                  <c:v>US-led</c:v>
                </c:pt>
                <c:pt idx="2">
                  <c:v>Bifurcation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</c:v>
                </c:pt>
                <c:pt idx="1">
                  <c:v>80</c:v>
                </c:pt>
                <c:pt idx="2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9CA3AF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China-led</c:v>
                </c:pt>
                <c:pt idx="1">
                  <c:v>US-led</c:v>
                </c:pt>
                <c:pt idx="2">
                  <c:v>Bifurcation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</c:v>
                </c:pt>
                <c:pt idx="1">
                  <c:v>10</c:v>
                </c:pt>
                <c:pt idx="2">
                  <c:v>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PingFang SC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6A34A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C2626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Tier A+B (firm)</c:v>
                </c:pt>
                <c:pt idx="1">
                  <c:v>Tier C+D+E (软)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  <a:latin typeface="PingFang SC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回本周期对比（年）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6A34A"/>
              </a:solidFill>
              <a:ln>
                <a:noFill/>
              </a:ln>
            </c:spPr>
          </c:dPt>
          <c:dPt>
            <c:idx val="1"/>
            <c:spPr>
              <a:solidFill>
                <a:srgbClr val="16A34A"/>
              </a:solidFill>
              <a:ln>
                <a:noFill/>
              </a:ln>
            </c:spPr>
          </c:dPt>
          <c:dPt>
            <c:idx val="2"/>
            <c:spPr>
              <a:solidFill>
                <a:srgbClr val="16A34A"/>
              </a:solidFill>
              <a:ln>
                <a:noFill/>
              </a:ln>
            </c:spPr>
          </c:dPt>
          <c:dPt>
            <c:idx val="3"/>
            <c:spPr>
              <a:solidFill>
                <a:srgbClr val="16A34A"/>
              </a:solidFill>
              <a:ln>
                <a:noFill/>
              </a:ln>
            </c:spPr>
          </c:dPt>
          <c:dPt>
            <c:idx val="4"/>
            <c:spPr>
              <a:solidFill>
                <a:srgbClr val="DC2626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Locus AMR</c:v>
                </c:pt>
                <c:pt idx="1">
                  <c:v>UR 协作臂(典型)</c:v>
                </c:pt>
                <c:pt idx="2">
                  <c:v>Symbotic 报</c:v>
                </c:pt>
                <c:pt idx="3">
                  <c:v>AutoStore</c:v>
                </c:pt>
                <c:pt idx="4">
                  <c:v>人形 Agility naive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</c:v>
                </c:pt>
                <c:pt idx="1">
                  <c:v>0.83</c:v>
                </c:pt>
                <c:pt idx="2">
                  <c:v>1.2</c:v>
                </c:pt>
                <c:pt idx="3">
                  <c:v>1.5</c:v>
                </c:pt>
                <c:pt idx="4">
                  <c:v>8.0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0F2740"/>
                  </a:solidFill>
                  <a:latin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失败概率对比（中点估算 %）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6A34A"/>
              </a:solidFill>
              <a:ln>
                <a:noFill/>
              </a:ln>
            </c:spPr>
          </c:dPt>
          <c:dPt>
            <c:idx val="1"/>
            <c:spPr>
              <a:solidFill>
                <a:srgbClr val="16A34A"/>
              </a:solidFill>
              <a:ln>
                <a:noFill/>
              </a:ln>
            </c:spPr>
          </c:dPt>
          <c:dPt>
            <c:idx val="2"/>
            <c:spPr>
              <a:solidFill>
                <a:srgbClr val="EA580C"/>
              </a:solidFill>
              <a:ln>
                <a:noFill/>
              </a:ln>
            </c:spPr>
          </c:dPt>
          <c:dPt>
            <c:idx val="3"/>
            <c:spPr>
              <a:solidFill>
                <a:srgbClr val="DC2626"/>
              </a:solidFill>
              <a:ln>
                <a:noFill/>
              </a:ln>
            </c:spPr>
          </c:dPt>
          <c:dPt>
            <c:idx val="4"/>
            <c:spPr>
              <a:solidFill>
                <a:srgbClr val="DC2626"/>
              </a:solidFill>
              <a:ln>
                <a:noFill/>
              </a:ln>
            </c:spPr>
          </c:dPt>
          <c:dPt>
            <c:idx val="5"/>
            <c:spPr>
              <a:solidFill>
                <a:srgbClr val="DC2626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⑤ 中国硬件派</c:v>
                </c:pt>
                <c:pt idx="1">
                  <c:v>⑥ 中国场景派</c:v>
                </c:pt>
                <c:pt idx="2">
                  <c:v>② Figure/Apptronik</c:v>
                </c:pt>
                <c:pt idx="3">
                  <c:v>① Tesla</c:v>
                </c:pt>
                <c:pt idx="4">
                  <c:v>④ PI/Skild</c:v>
                </c:pt>
                <c:pt idx="5">
                  <c:v>③ 1X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30</c:v>
                </c:pt>
                <c:pt idx="2">
                  <c:v>35</c:v>
                </c:pt>
                <c:pt idx="3">
                  <c:v>45</c:v>
                </c:pt>
                <c:pt idx="4">
                  <c:v>45</c:v>
                </c:pt>
                <c:pt idx="5">
                  <c:v>55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0F2740"/>
                  </a:solidFill>
                  <a:latin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国产化率 % (2025)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6A34A"/>
              </a:solidFill>
              <a:ln>
                <a:noFill/>
              </a:ln>
            </c:spPr>
          </c:dPt>
          <c:dPt>
            <c:idx val="1"/>
            <c:spPr>
              <a:solidFill>
                <a:srgbClr val="16A34A"/>
              </a:solidFill>
              <a:ln>
                <a:noFill/>
              </a:ln>
            </c:spPr>
          </c:dPt>
          <c:dPt>
            <c:idx val="2"/>
            <c:spPr>
              <a:solidFill>
                <a:srgbClr val="16A34A"/>
              </a:solidFill>
              <a:ln>
                <a:noFill/>
              </a:ln>
            </c:spPr>
          </c:dPt>
          <c:dPt>
            <c:idx val="3"/>
            <c:spPr>
              <a:solidFill>
                <a:srgbClr val="16A34A"/>
              </a:solidFill>
              <a:ln>
                <a:noFill/>
              </a:ln>
            </c:spPr>
          </c:dPt>
          <c:dPt>
            <c:idx val="4"/>
            <c:spPr>
              <a:solidFill>
                <a:srgbClr val="16A34A"/>
              </a:solidFill>
              <a:ln>
                <a:noFill/>
              </a:ln>
            </c:spPr>
          </c:dPt>
          <c:dPt>
            <c:idx val="5"/>
            <c:spPr>
              <a:solidFill>
                <a:srgbClr val="16A34A"/>
              </a:solidFill>
              <a:ln>
                <a:noFill/>
              </a:ln>
            </c:spPr>
          </c:dPt>
          <c:dPt>
            <c:idx val="6"/>
            <c:spPr>
              <a:solidFill>
                <a:srgbClr val="16A34A"/>
              </a:solidFill>
              <a:ln>
                <a:noFill/>
              </a:ln>
            </c:spPr>
          </c:dPt>
          <c:dPt>
            <c:idx val="7"/>
            <c:spPr>
              <a:solidFill>
                <a:srgbClr val="EA580C"/>
              </a:solidFill>
              <a:ln>
                <a:noFill/>
              </a:ln>
            </c:spPr>
          </c:dPt>
          <c:dPt>
            <c:idx val="8"/>
            <c:spPr>
              <a:solidFill>
                <a:srgbClr val="EA580C"/>
              </a:solidFill>
              <a:ln>
                <a:noFill/>
              </a:ln>
            </c:spPr>
          </c:dPt>
          <c:dPt>
            <c:idx val="9"/>
            <c:spPr>
              <a:solidFill>
                <a:srgbClr val="EA580C"/>
              </a:solidFill>
              <a:ln>
                <a:noFill/>
              </a:ln>
            </c:spPr>
          </c:dPt>
          <c:dPt>
            <c:idx val="10"/>
            <c:spPr>
              <a:solidFill>
                <a:srgbClr val="EA580C"/>
              </a:solidFill>
              <a:ln>
                <a:noFill/>
              </a:ln>
            </c:spPr>
          </c:dPt>
          <c:dPt>
            <c:idx val="11"/>
            <c:spPr>
              <a:solidFill>
                <a:srgbClr val="EA580C"/>
              </a:solidFill>
              <a:ln>
                <a:noFill/>
              </a:ln>
            </c:spPr>
          </c:dPt>
          <c:dPt>
            <c:idx val="12"/>
            <c:spPr>
              <a:solidFill>
                <a:srgbClr val="DC2626"/>
              </a:solidFill>
              <a:ln>
                <a:noFill/>
              </a:ln>
            </c:spPr>
          </c:dPt>
          <c:dPt>
            <c:idx val="13"/>
            <c:spPr>
              <a:solidFill>
                <a:srgbClr val="DC2626"/>
              </a:solidFill>
              <a:ln>
                <a:noFill/>
              </a:ln>
            </c:spPr>
          </c:dPt>
          <c:dPt>
            <c:idx val="14"/>
            <c:spPr>
              <a:solidFill>
                <a:srgbClr val="DC2626"/>
              </a:solidFill>
              <a:ln>
                <a:noFill/>
              </a:ln>
            </c:spPr>
          </c:dPt>
          <c:cat>
            <c:strRef>
              <c:f>Sheet1!$A$2:$A$16</c:f>
              <c:strCache>
                <c:ptCount val="15"/>
                <c:pt idx="0">
                  <c:v>稀土永磁</c:v>
                </c:pt>
                <c:pt idx="1">
                  <c:v>高功率电池</c:v>
                </c:pt>
                <c:pt idx="2">
                  <c:v>激光雷达</c:v>
                </c:pt>
                <c:pt idx="3">
                  <c:v>深度相机</c:v>
                </c:pt>
                <c:pt idx="4">
                  <c:v>六维力传感</c:v>
                </c:pt>
                <c:pt idx="5">
                  <c:v>谐波减速器</c:v>
                </c:pt>
                <c:pt idx="6">
                  <c:v>灵巧手</c:v>
                </c:pt>
                <c:pt idx="7">
                  <c:v>无框电机</c:v>
                </c:pt>
                <c:pt idx="8">
                  <c:v>AI 端侧芯片</c:v>
                </c:pt>
                <c:pt idx="9">
                  <c:v>RV 减速器</c:v>
                </c:pt>
                <c:pt idx="10">
                  <c:v>光电编码器</c:v>
                </c:pt>
                <c:pt idx="11">
                  <c:v>IMU 导航级</c:v>
                </c:pt>
                <c:pt idx="12">
                  <c:v>AI 训练芯片</c:v>
                </c:pt>
                <c:pt idx="13">
                  <c:v>行星滚柱丝杠</c:v>
                </c:pt>
                <c:pt idx="14">
                  <c:v>铍铜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92</c:v>
                </c:pt>
                <c:pt idx="1">
                  <c:v>90</c:v>
                </c:pt>
                <c:pt idx="2">
                  <c:v>95</c:v>
                </c:pt>
                <c:pt idx="3">
                  <c:v>70</c:v>
                </c:pt>
                <c:pt idx="4">
                  <c:v>70</c:v>
                </c:pt>
                <c:pt idx="5">
                  <c:v>62</c:v>
                </c:pt>
                <c:pt idx="6">
                  <c:v>60</c:v>
                </c:pt>
                <c:pt idx="7">
                  <c:v>45</c:v>
                </c:pt>
                <c:pt idx="8">
                  <c:v>35</c:v>
                </c:pt>
                <c:pt idx="9">
                  <c:v>18</c:v>
                </c:pt>
                <c:pt idx="10">
                  <c:v>28</c:v>
                </c:pt>
                <c:pt idx="11">
                  <c:v>25</c:v>
                </c:pt>
                <c:pt idx="12">
                  <c:v>30</c:v>
                </c:pt>
                <c:pt idx="13">
                  <c:v>20</c:v>
                </c:pt>
                <c:pt idx="14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0F2740"/>
                  </a:solidFill>
                  <a:latin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估值 Top 10（$B / IPO 预计）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  <a:ln>
                <a:noFill/>
              </a:ln>
            </c:spPr>
          </c:dPt>
          <c:dPt>
            <c:idx val="1"/>
            <c:spPr>
              <a:solidFill>
                <a:srgbClr val="2563EB"/>
              </a:solidFill>
              <a:ln>
                <a:noFill/>
              </a:ln>
            </c:spPr>
          </c:dPt>
          <c:dPt>
            <c:idx val="2"/>
            <c:spPr>
              <a:solidFill>
                <a:srgbClr val="2563EB"/>
              </a:solidFill>
              <a:ln>
                <a:noFill/>
              </a:ln>
            </c:spPr>
          </c:dPt>
          <c:dPt>
            <c:idx val="3"/>
            <c:spPr>
              <a:solidFill>
                <a:srgbClr val="2563EB"/>
              </a:solidFill>
              <a:ln>
                <a:noFill/>
              </a:ln>
            </c:spPr>
          </c:dPt>
          <c:dPt>
            <c:idx val="4"/>
            <c:spPr>
              <a:solidFill>
                <a:srgbClr val="2563EB"/>
              </a:solidFill>
              <a:ln>
                <a:noFill/>
              </a:ln>
            </c:spPr>
          </c:dPt>
          <c:dPt>
            <c:idx val="5"/>
            <c:spPr>
              <a:solidFill>
                <a:srgbClr val="EA580C"/>
              </a:solidFill>
              <a:ln>
                <a:noFill/>
              </a:ln>
            </c:spPr>
          </c:dPt>
          <c:dPt>
            <c:idx val="6"/>
            <c:spPr>
              <a:solidFill>
                <a:srgbClr val="DC2626"/>
              </a:solidFill>
              <a:ln>
                <a:noFill/>
              </a:ln>
            </c:spPr>
          </c:dPt>
          <c:dPt>
            <c:idx val="7"/>
            <c:spPr>
              <a:solidFill>
                <a:srgbClr val="DC2626"/>
              </a:solidFill>
              <a:ln>
                <a:noFill/>
              </a:ln>
            </c:spPr>
          </c:dPt>
          <c:dPt>
            <c:idx val="8"/>
            <c:spPr>
              <a:solidFill>
                <a:srgbClr val="DC2626"/>
              </a:solidFill>
              <a:ln>
                <a:noFill/>
              </a:ln>
            </c:spPr>
          </c:dPt>
          <c:dPt>
            <c:idx val="9"/>
            <c:spPr>
              <a:solidFill>
                <a:srgbClr val="DC2626"/>
              </a:solidFill>
              <a:ln>
                <a:noFill/>
              </a:ln>
            </c:spPr>
          </c:dPt>
          <c:dPt>
            <c:idx val="10"/>
            <c:spPr>
              <a:solidFill>
                <a:srgbClr val="DC2626"/>
              </a:solidFill>
              <a:ln>
                <a:noFill/>
              </a:ln>
            </c:spPr>
          </c:dPt>
          <c:cat>
            <c:strRef>
              <c:f>Sheet1!$A$2:$A$12</c:f>
              <c:strCache>
                <c:ptCount val="11"/>
                <c:pt idx="0">
                  <c:v>Figure AI 🇺🇸</c:v>
                </c:pt>
                <c:pt idx="1">
                  <c:v>Skild AI 🇺🇸</c:v>
                </c:pt>
                <c:pt idx="2">
                  <c:v>Physical Intel 🇺🇸</c:v>
                </c:pt>
                <c:pt idx="3">
                  <c:v>1X 🇺🇸/🇳🇴</c:v>
                </c:pt>
                <c:pt idx="4">
                  <c:v>Apptronik 🇺🇸</c:v>
                </c:pt>
                <c:pt idx="5">
                  <c:v>Neura 🇩🇪</c:v>
                </c:pt>
                <c:pt idx="6">
                  <c:v>银河通用 🇨🇳</c:v>
                </c:pt>
                <c:pt idx="7">
                  <c:v>智元 🇨🇳</c:v>
                </c:pt>
                <c:pt idx="8">
                  <c:v>星海图 🇨🇳</c:v>
                </c:pt>
                <c:pt idx="9">
                  <c:v>星动 🇨🇳</c:v>
                </c:pt>
                <c:pt idx="10">
                  <c:v>宇树 🇨🇳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39.5</c:v>
                </c:pt>
                <c:pt idx="1">
                  <c:v>14</c:v>
                </c:pt>
                <c:pt idx="2">
                  <c:v>11</c:v>
                </c:pt>
                <c:pt idx="3">
                  <c:v>10</c:v>
                </c:pt>
                <c:pt idx="4">
                  <c:v>5</c:v>
                </c:pt>
                <c:pt idx="5">
                  <c:v>4.4</c:v>
                </c:pt>
                <c:pt idx="6">
                  <c:v>3</c:v>
                </c:pt>
                <c:pt idx="7">
                  <c:v>2.8</c:v>
                </c:pt>
                <c:pt idx="8">
                  <c:v>2.8</c:v>
                </c:pt>
                <c:pt idx="9">
                  <c:v>1.4</c:v>
                </c:pt>
                <c:pt idx="10">
                  <c:v>1.7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0F2740"/>
                  </a:solidFill>
                  <a:latin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2025 出货 Top 10（台）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DC2626"/>
              </a:solidFill>
              <a:ln>
                <a:noFill/>
              </a:ln>
            </c:spPr>
          </c:dPt>
          <c:dPt>
            <c:idx val="1"/>
            <c:spPr>
              <a:solidFill>
                <a:srgbClr val="DC2626"/>
              </a:solidFill>
              <a:ln>
                <a:noFill/>
              </a:ln>
            </c:spPr>
          </c:dPt>
          <c:dPt>
            <c:idx val="2"/>
            <c:spPr>
              <a:solidFill>
                <a:srgbClr val="DC2626"/>
              </a:solidFill>
              <a:ln>
                <a:noFill/>
              </a:ln>
            </c:spPr>
          </c:dPt>
          <c:dPt>
            <c:idx val="3"/>
            <c:spPr>
              <a:solidFill>
                <a:srgbClr val="DC2626"/>
              </a:solidFill>
              <a:ln>
                <a:noFill/>
              </a:ln>
            </c:spPr>
          </c:dPt>
          <c:dPt>
            <c:idx val="4"/>
            <c:spPr>
              <a:solidFill>
                <a:srgbClr val="DC2626"/>
              </a:solidFill>
              <a:ln>
                <a:noFill/>
              </a:ln>
            </c:spPr>
          </c:dPt>
          <c:dPt>
            <c:idx val="5"/>
            <c:spPr>
              <a:solidFill>
                <a:srgbClr val="DC2626"/>
              </a:solidFill>
              <a:ln>
                <a:noFill/>
              </a:ln>
            </c:spPr>
          </c:dPt>
          <c:dPt>
            <c:idx val="6"/>
            <c:spPr>
              <a:solidFill>
                <a:srgbClr val="2563EB"/>
              </a:solidFill>
              <a:ln>
                <a:noFill/>
              </a:ln>
            </c:spPr>
          </c:dPt>
          <c:dPt>
            <c:idx val="7"/>
            <c:spPr>
              <a:solidFill>
                <a:srgbClr val="9CA3AF"/>
              </a:solidFill>
              <a:ln>
                <a:noFill/>
              </a:ln>
            </c:spPr>
          </c:dPt>
          <c:dPt>
            <c:idx val="8"/>
            <c:spPr>
              <a:solidFill>
                <a:srgbClr val="2563EB"/>
              </a:solidFill>
              <a:ln>
                <a:noFill/>
              </a:ln>
            </c:spPr>
          </c:dPt>
          <c:dPt>
            <c:idx val="9"/>
            <c:spPr>
              <a:solidFill>
                <a:srgbClr val="2563EB"/>
              </a:solidFill>
              <a:ln>
                <a:noFill/>
              </a:ln>
            </c:spPr>
          </c:dPt>
          <c:dPt>
            <c:idx val="10"/>
            <c:spPr>
              <a:solidFill>
                <a:srgbClr val="2563EB"/>
              </a:solidFill>
              <a:ln>
                <a:noFill/>
              </a:ln>
            </c:spPr>
          </c:dPt>
          <c:cat>
            <c:strRef>
              <c:f>Sheet1!$A$2:$A$12</c:f>
              <c:strCache>
                <c:ptCount val="11"/>
                <c:pt idx="0">
                  <c:v>宇树 (含机器狗)</c:v>
                </c:pt>
                <c:pt idx="1">
                  <c:v>智元</c:v>
                </c:pt>
                <c:pt idx="2">
                  <c:v>优必选</c:v>
                </c:pt>
                <c:pt idx="3">
                  <c:v>众擎</c:v>
                </c:pt>
                <c:pt idx="4">
                  <c:v>加速进化</c:v>
                </c:pt>
                <c:pt idx="5">
                  <c:v>傅利叶</c:v>
                </c:pt>
                <c:pt idx="6">
                  <c:v>Agility</c:v>
                </c:pt>
                <c:pt idx="7">
                  <c:v>Tesla*</c:v>
                </c:pt>
                <c:pt idx="8">
                  <c:v>1X</c:v>
                </c:pt>
                <c:pt idx="9">
                  <c:v>Apptronik</c:v>
                </c:pt>
                <c:pt idx="10">
                  <c:v>Figure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5500</c:v>
                </c:pt>
                <c:pt idx="1">
                  <c:v>5168</c:v>
                </c:pt>
                <c:pt idx="2">
                  <c:v>1500</c:v>
                </c:pt>
                <c:pt idx="3">
                  <c:v>1200</c:v>
                </c:pt>
                <c:pt idx="4">
                  <c:v>800</c:v>
                </c:pt>
                <c:pt idx="5">
                  <c:v>700</c:v>
                </c:pt>
                <c:pt idx="6">
                  <c:v>500</c:v>
                </c:pt>
                <c:pt idx="7">
                  <c:v>1000</c:v>
                </c:pt>
                <c:pt idx="8">
                  <c:v>300</c:v>
                </c:pt>
                <c:pt idx="9">
                  <c:v>300</c:v>
                </c:pt>
                <c:pt idx="10">
                  <c:v>150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0F2740"/>
                  </a:solidFill>
                  <a:latin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2025 订单 Top（¥亿）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6A34A"/>
              </a:solidFill>
              <a:ln>
                <a:noFill/>
              </a:ln>
            </c:spPr>
          </c:dPt>
          <c:dPt>
            <c:idx val="1"/>
            <c:spPr>
              <a:solidFill>
                <a:srgbClr val="16A34A"/>
              </a:solidFill>
              <a:ln>
                <a:noFill/>
              </a:ln>
            </c:spPr>
          </c:dPt>
          <c:dPt>
            <c:idx val="2"/>
            <c:spPr>
              <a:solidFill>
                <a:srgbClr val="16A34A"/>
              </a:solidFill>
              <a:ln>
                <a:noFill/>
              </a:ln>
            </c:spPr>
          </c:dPt>
          <c:dPt>
            <c:idx val="3"/>
            <c:spPr>
              <a:solidFill>
                <a:srgbClr val="16A34A"/>
              </a:solidFill>
              <a:ln>
                <a:noFill/>
              </a:ln>
            </c:spPr>
          </c:dPt>
          <c:dPt>
            <c:idx val="4"/>
            <c:spPr>
              <a:solidFill>
                <a:srgbClr val="16A34A"/>
              </a:solidFill>
              <a:ln>
                <a:noFill/>
              </a:ln>
            </c:spPr>
          </c:dPt>
          <c:dPt>
            <c:idx val="5"/>
            <c:spPr>
              <a:solidFill>
                <a:srgbClr val="EA580C"/>
              </a:solidFill>
              <a:ln>
                <a:noFill/>
              </a:ln>
            </c:spPr>
          </c:dPt>
          <c:dPt>
            <c:idx val="6"/>
            <c:spPr>
              <a:solidFill>
                <a:srgbClr val="EA580C"/>
              </a:solidFill>
              <a:ln>
                <a:noFill/>
              </a:ln>
            </c:spPr>
          </c:dPt>
          <c:cat>
            <c:strRef>
              <c:f>Sheet1!$A$2:$A$8</c:f>
              <c:strCache>
                <c:ptCount val="7"/>
                <c:pt idx="0">
                  <c:v>优必选 Walker S 全年</c:v>
                </c:pt>
                <c:pt idx="1">
                  <c:v>宇树科技 全年</c:v>
                </c:pt>
                <c:pt idx="2">
                  <c:v>优必选-广西防城港</c:v>
                </c:pt>
                <c:pt idx="3">
                  <c:v>优必选-工业客户</c:v>
                </c:pt>
                <c:pt idx="4">
                  <c:v>优必选-自贡</c:v>
                </c:pt>
                <c:pt idx="5">
                  <c:v>智元+宇树-中移动</c:v>
                </c:pt>
                <c:pt idx="6">
                  <c:v>星动纪元 累计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12</c:v>
                </c:pt>
                <c:pt idx="2">
                  <c:v>2.64</c:v>
                </c:pt>
                <c:pt idx="3">
                  <c:v>2.5</c:v>
                </c:pt>
                <c:pt idx="4">
                  <c:v>1.59</c:v>
                </c:pt>
                <c:pt idx="5">
                  <c:v>1.24</c:v>
                </c:pt>
                <c:pt idx="6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0F2740"/>
                  </a:solidFill>
                  <a:latin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累计保有量曲线 · 人形 vs EV（对数表示）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人形（累计 / 万台）</c:v>
                </c:pt>
              </c:strCache>
            </c:strRef>
          </c:tx>
          <c:spPr>
            <a:ln w="31750">
              <a:solidFill>
                <a:srgbClr val="DC2626"/>
              </a:solidFill>
            </a:ln>
          </c:spPr>
          <c:marker>
            <c:symbol val="none"/>
            <c:size val="6"/>
            <c:spPr>
              <a:solidFill>
                <a:srgbClr val="DC2626"/>
              </a:solidFill>
            </c:spPr>
          </c:marker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  <c:pt idx="3">
                  <c:v>2030</c:v>
                </c:pt>
                <c:pt idx="4">
                  <c:v>2035</c:v>
                </c:pt>
                <c:pt idx="5">
                  <c:v>2040</c:v>
                </c:pt>
                <c:pt idx="6">
                  <c:v>2050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</c:v>
                </c:pt>
                <c:pt idx="1">
                  <c:v>2.3</c:v>
                </c:pt>
                <c:pt idx="2">
                  <c:v>27</c:v>
                </c:pt>
                <c:pt idx="3">
                  <c:v>100</c:v>
                </c:pt>
                <c:pt idx="4">
                  <c:v>2200</c:v>
                </c:pt>
                <c:pt idx="5">
                  <c:v>11000</c:v>
                </c:pt>
                <c:pt idx="6">
                  <c:v>65000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EV（累计销量 / 万辆）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  <c:size val="6"/>
            <c:spPr>
              <a:solidFill>
                <a:srgbClr val="2563EB"/>
              </a:solidFill>
            </c:spPr>
          </c:marker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  <c:pt idx="3">
                  <c:v>2030</c:v>
                </c:pt>
                <c:pt idx="4">
                  <c:v>2035</c:v>
                </c:pt>
                <c:pt idx="5">
                  <c:v>2040</c:v>
                </c:pt>
                <c:pt idx="6">
                  <c:v>2050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200</c:v>
                </c:pt>
                <c:pt idx="1">
                  <c:v>800</c:v>
                </c:pt>
                <c:pt idx="2">
                  <c:v>5000</c:v>
                </c:pt>
                <c:pt idx="3">
                  <c:v>25000</c:v>
                </c:pt>
                <c:pt idx="4">
                  <c:v>80000</c:v>
                </c:pt>
                <c:pt idx="5">
                  <c:v>200000</c:v>
                </c:pt>
                <c:pt idx="6">
                  <c:v>800000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PingFang S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2030+ 市场规模预测对比（$ 十亿）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9CA3AF"/>
              </a:solidFill>
              <a:ln>
                <a:noFill/>
              </a:ln>
            </c:spPr>
          </c:dPt>
          <c:dPt>
            <c:idx val="1"/>
            <c:spPr>
              <a:solidFill>
                <a:srgbClr val="9CA3AF"/>
              </a:solidFill>
              <a:ln>
                <a:noFill/>
              </a:ln>
            </c:spPr>
          </c:dPt>
          <c:dPt>
            <c:idx val="2"/>
            <c:spPr>
              <a:solidFill>
                <a:srgbClr val="9CA3AF"/>
              </a:solidFill>
              <a:ln>
                <a:noFill/>
              </a:ln>
            </c:spPr>
          </c:dPt>
          <c:dPt>
            <c:idx val="3"/>
            <c:spPr>
              <a:solidFill>
                <a:srgbClr val="9CA3AF"/>
              </a:solidFill>
              <a:ln>
                <a:noFill/>
              </a:ln>
            </c:spPr>
          </c:dPt>
          <c:dPt>
            <c:idx val="4"/>
            <c:spPr>
              <a:solidFill>
                <a:srgbClr val="EA580C"/>
              </a:solidFill>
              <a:ln>
                <a:noFill/>
              </a:ln>
            </c:spPr>
          </c:dPt>
          <c:dPt>
            <c:idx val="5"/>
            <c:spPr>
              <a:solidFill>
                <a:srgbClr val="EA580C"/>
              </a:solidFill>
              <a:ln>
                <a:noFill/>
              </a:ln>
            </c:spPr>
          </c:dPt>
          <c:dPt>
            <c:idx val="6"/>
            <c:spPr>
              <a:solidFill>
                <a:srgbClr val="EA580C"/>
              </a:solidFill>
              <a:ln>
                <a:noFill/>
              </a:ln>
            </c:spPr>
          </c:dPt>
          <c:dPt>
            <c:idx val="7"/>
            <c:spPr>
              <a:solidFill>
                <a:srgbClr val="D4A574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Citi (2050)</c:v>
                </c:pt>
                <c:pt idx="1">
                  <c:v>MS (2050)</c:v>
                </c:pt>
                <c:pt idx="2">
                  <c:v>McKinsey (2040)</c:v>
                </c:pt>
                <c:pt idx="3">
                  <c:v>Goldman (2035)</c:v>
                </c:pt>
                <c:pt idx="4">
                  <c:v>BofA (2030)</c:v>
                </c:pt>
                <c:pt idx="5">
                  <c:v>BCC (2030)</c:v>
                </c:pt>
                <c:pt idx="6">
                  <c:v>MarketsM (2030)</c:v>
                </c:pt>
                <c:pt idx="7">
                  <c:v>{bold}本报告自算{/bold} (2030)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7000</c:v>
                </c:pt>
                <c:pt idx="1">
                  <c:v>4700</c:v>
                </c:pt>
                <c:pt idx="2">
                  <c:v>370</c:v>
                </c:pt>
                <c:pt idx="3">
                  <c:v>38</c:v>
                </c:pt>
                <c:pt idx="4">
                  <c:v>30</c:v>
                </c:pt>
                <c:pt idx="5">
                  <c:v>11</c:v>
                </c:pt>
                <c:pt idx="6">
                  <c:v>15.26</c:v>
                </c:pt>
                <c:pt idx="7">
                  <c:v>7.5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0F2740"/>
                  </a:solidFill>
                  <a:latin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中美 16 环节能力（1-5 ★）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中国</c:v>
                </c:pt>
              </c:strCache>
            </c:strRef>
          </c:tx>
          <c:spPr>
            <a:ln w="25400">
              <a:solidFill>
                <a:srgbClr val="DC2626"/>
              </a:solidFill>
            </a:ln>
          </c:spPr>
          <c:marker>
            <c:symbol val="none"/>
          </c:marker>
          <c:cat>
            <c:strRef>
              <c:f>Sheet1!$A$2:$A$17</c:f>
              <c:strCache>
                <c:ptCount val="16"/>
                <c:pt idx="0">
                  <c:v>端侧芯片</c:v>
                </c:pt>
                <c:pt idx="1">
                  <c:v>训练算力</c:v>
                </c:pt>
                <c:pt idx="2">
                  <c:v>谐波</c:v>
                </c:pt>
                <c:pt idx="3">
                  <c:v>丝杠</c:v>
                </c:pt>
                <c:pt idx="4">
                  <c:v>无框电机</c:v>
                </c:pt>
                <c:pt idx="5">
                  <c:v>灵巧手</c:v>
                </c:pt>
                <c:pt idx="6">
                  <c:v>力/触觉</c:v>
                </c:pt>
                <c:pt idx="7">
                  <c:v>稀土永磁</c:v>
                </c:pt>
                <c:pt idx="8">
                  <c:v>PEEK/碳纤维</c:v>
                </c:pt>
                <c:pt idx="9">
                  <c:v>铍铜</c:v>
                </c:pt>
                <c:pt idx="10">
                  <c:v>VLA 模型</c:v>
                </c:pt>
                <c:pt idx="11">
                  <c:v>仿真平台</c:v>
                </c:pt>
                <c:pt idx="12">
                  <c:v>训练数据</c:v>
                </c:pt>
                <c:pt idx="13">
                  <c:v>整机量产</c:v>
                </c:pt>
                <c:pt idx="14">
                  <c:v>客户场景</c:v>
                </c:pt>
                <c:pt idx="15">
                  <c:v>资本市场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4</c:v>
                </c:pt>
                <c:pt idx="7">
                  <c:v>5</c:v>
                </c:pt>
                <c:pt idx="8">
                  <c:v>4</c:v>
                </c:pt>
                <c:pt idx="9">
                  <c:v>1</c:v>
                </c:pt>
                <c:pt idx="10">
                  <c:v>3</c:v>
                </c:pt>
                <c:pt idx="11">
                  <c:v>2</c:v>
                </c:pt>
                <c:pt idx="12">
                  <c:v>4</c:v>
                </c:pt>
                <c:pt idx="13">
                  <c:v>5</c:v>
                </c:pt>
                <c:pt idx="14">
                  <c:v>5</c:v>
                </c:pt>
                <c:pt idx="15">
                  <c:v>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美国</c:v>
                </c:pt>
              </c:strCache>
            </c:strRef>
          </c:tx>
          <c:spPr>
            <a:ln w="2540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Sheet1!$A$2:$A$17</c:f>
              <c:strCache>
                <c:ptCount val="16"/>
                <c:pt idx="0">
                  <c:v>端侧芯片</c:v>
                </c:pt>
                <c:pt idx="1">
                  <c:v>训练算力</c:v>
                </c:pt>
                <c:pt idx="2">
                  <c:v>谐波</c:v>
                </c:pt>
                <c:pt idx="3">
                  <c:v>丝杠</c:v>
                </c:pt>
                <c:pt idx="4">
                  <c:v>无框电机</c:v>
                </c:pt>
                <c:pt idx="5">
                  <c:v>灵巧手</c:v>
                </c:pt>
                <c:pt idx="6">
                  <c:v>力/触觉</c:v>
                </c:pt>
                <c:pt idx="7">
                  <c:v>稀土永磁</c:v>
                </c:pt>
                <c:pt idx="8">
                  <c:v>PEEK/碳纤维</c:v>
                </c:pt>
                <c:pt idx="9">
                  <c:v>铍铜</c:v>
                </c:pt>
                <c:pt idx="10">
                  <c:v>VLA 模型</c:v>
                </c:pt>
                <c:pt idx="11">
                  <c:v>仿真平台</c:v>
                </c:pt>
                <c:pt idx="12">
                  <c:v>训练数据</c:v>
                </c:pt>
                <c:pt idx="13">
                  <c:v>整机量产</c:v>
                </c:pt>
                <c:pt idx="14">
                  <c:v>客户场景</c:v>
                </c:pt>
                <c:pt idx="15">
                  <c:v>资本市场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5</c:v>
                </c:pt>
                <c:pt idx="1">
                  <c:v>5</c:v>
                </c:pt>
                <c:pt idx="2">
                  <c:v>3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1</c:v>
                </c:pt>
                <c:pt idx="8">
                  <c:v>3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  <c:pt idx="12">
                  <c:v>4</c:v>
                </c:pt>
                <c:pt idx="13">
                  <c:v>3</c:v>
                </c:pt>
                <c:pt idx="14">
                  <c:v>4</c:v>
                </c:pt>
                <c:pt idx="15">
                  <c:v>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>
              <a:latin typeface="PingFang S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EV / Sales LTM 倍数对比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DC2626"/>
              </a:solidFill>
              <a:ln>
                <a:noFill/>
              </a:ln>
            </c:spPr>
          </c:dPt>
          <c:dPt>
            <c:idx val="1"/>
            <c:spPr>
              <a:solidFill>
                <a:srgbClr val="2563EB"/>
              </a:solidFill>
              <a:ln>
                <a:noFill/>
              </a:ln>
            </c:spPr>
          </c:dPt>
          <c:dPt>
            <c:idx val="2"/>
            <c:spPr>
              <a:solidFill>
                <a:srgbClr val="2563EB"/>
              </a:solidFill>
              <a:ln>
                <a:noFill/>
              </a:ln>
            </c:spPr>
          </c:dPt>
          <c:dPt>
            <c:idx val="3"/>
            <c:spPr>
              <a:solidFill>
                <a:srgbClr val="2563EB"/>
              </a:solidFill>
              <a:ln>
                <a:noFill/>
              </a:ln>
            </c:spPr>
          </c:dPt>
          <c:dPt>
            <c:idx val="4"/>
            <c:spPr>
              <a:solidFill>
                <a:srgbClr val="EA580C"/>
              </a:solidFill>
              <a:ln>
                <a:noFill/>
              </a:ln>
            </c:spPr>
          </c:dPt>
          <c:dPt>
            <c:idx val="5"/>
            <c:spPr>
              <a:solidFill>
                <a:srgbClr val="16A34A"/>
              </a:solidFill>
              <a:ln>
                <a:noFill/>
              </a:ln>
            </c:spPr>
          </c:dPt>
          <c:dPt>
            <c:idx val="6"/>
            <c:spPr>
              <a:solidFill>
                <a:srgbClr val="16A34A"/>
              </a:solidFill>
              <a:ln>
                <a:noFill/>
              </a:ln>
            </c:spPr>
          </c:dPt>
          <c:dPt>
            <c:idx val="7"/>
            <c:spPr>
              <a:solidFill>
                <a:srgbClr val="EA580C"/>
              </a:solidFill>
              <a:ln>
                <a:noFill/>
              </a:ln>
            </c:spPr>
          </c:dPt>
          <c:dPt>
            <c:idx val="8"/>
            <c:spPr>
              <a:solidFill>
                <a:srgbClr val="9CA3AF"/>
              </a:solidFill>
              <a:ln>
                <a:noFill/>
              </a:ln>
            </c:spPr>
          </c:dPt>
          <c:dPt>
            <c:idx val="9"/>
            <c:spPr>
              <a:solidFill>
                <a:srgbClr val="9CA3AF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Figure (790×)</c:v>
                </c:pt>
                <c:pt idx="1">
                  <c:v>Intuitive (14×)</c:v>
                </c:pt>
                <c:pt idx="2">
                  <c:v>Anthropic (40×)</c:v>
                </c:pt>
                <c:pt idx="3">
                  <c:v>OpenAI (50×)</c:v>
                </c:pt>
                <c:pt idx="4">
                  <c:v>蔚来 IPO (53×)</c:v>
                </c:pt>
                <c:pt idx="5">
                  <c:v>宇树 (23×)</c:v>
                </c:pt>
                <c:pt idx="6">
                  <c:v>智元 (20×)</c:v>
                </c:pt>
                <c:pt idx="7">
                  <c:v>小鹏 IPO (24×)</c:v>
                </c:pt>
                <c:pt idx="8">
                  <c:v>Symbotic (4.5×)</c:v>
                </c:pt>
                <c:pt idx="9">
                  <c:v>ABB (2.8×)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790</c:v>
                </c:pt>
                <c:pt idx="1">
                  <c:v>14</c:v>
                </c:pt>
                <c:pt idx="2">
                  <c:v>40</c:v>
                </c:pt>
                <c:pt idx="3">
                  <c:v>50</c:v>
                </c:pt>
                <c:pt idx="4">
                  <c:v>53</c:v>
                </c:pt>
                <c:pt idx="5">
                  <c:v>23</c:v>
                </c:pt>
                <c:pt idx="6">
                  <c:v>20</c:v>
                </c:pt>
                <c:pt idx="7">
                  <c:v>24</c:v>
                </c:pt>
                <c:pt idx="8">
                  <c:v>4.5</c:v>
                </c:pt>
                <c:pt idx="9">
                  <c:v>2.8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0F2740"/>
                  </a:solidFill>
                  <a:latin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PingFang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PingFang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A580C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C2626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DC2626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2563EB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2563EB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7C3AED"/>
              </a:solidFill>
              <a:ln w="19050"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D4A574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Sheet1!$A$2:$A$8</c:f>
              <c:strCache>
                <c:ptCount val="7"/>
                <c:pt idx="0">
                  <c:v>原材料卡点</c:v>
                </c:pt>
                <c:pt idx="1">
                  <c:v>中系零部件</c:v>
                </c:pt>
                <c:pt idx="2">
                  <c:v>中系整机</c:v>
                </c:pt>
                <c:pt idx="3">
                  <c:v>美系软件</c:v>
                </c:pt>
                <c:pt idx="4">
                  <c:v>美系整机</c:v>
                </c:pt>
                <c:pt idx="5">
                  <c:v>仿真/数据</c:v>
                </c:pt>
                <c:pt idx="6">
                  <c:v>应用层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</c:v>
                </c:pt>
                <c:pt idx="1">
                  <c:v>25</c:v>
                </c:pt>
                <c:pt idx="2">
                  <c:v>25</c:v>
                </c:pt>
                <c:pt idx="3">
                  <c:v>5</c:v>
                </c:pt>
                <c:pt idx="4">
                  <c:v>5</c:v>
                </c:pt>
                <c:pt idx="5">
                  <c:v>15</c:v>
                </c:pt>
                <c:pt idx="6">
                  <c:v>10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  <a:latin typeface="PingFang SC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A580C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C2626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DC2626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2563EB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2563EB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7C3AED"/>
              </a:solidFill>
              <a:ln w="19050"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D4A574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Sheet1!$A$2:$A$8</c:f>
              <c:strCache>
                <c:ptCount val="7"/>
                <c:pt idx="0">
                  <c:v>原材料卡点</c:v>
                </c:pt>
                <c:pt idx="1">
                  <c:v>中系零部件</c:v>
                </c:pt>
                <c:pt idx="2">
                  <c:v>中系整机</c:v>
                </c:pt>
                <c:pt idx="3">
                  <c:v>美系软件</c:v>
                </c:pt>
                <c:pt idx="4">
                  <c:v>美系整机</c:v>
                </c:pt>
                <c:pt idx="5">
                  <c:v>仿真/数据</c:v>
                </c:pt>
                <c:pt idx="6">
                  <c:v>应用层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10</c:v>
                </c:pt>
                <c:pt idx="2">
                  <c:v>10</c:v>
                </c:pt>
                <c:pt idx="3">
                  <c:v>30</c:v>
                </c:pt>
                <c:pt idx="4">
                  <c:v>25</c:v>
                </c:pt>
                <c:pt idx="5">
                  <c:v>15</c:v>
                </c:pt>
                <c:pt idx="6">
                  <c:v>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  <a:latin typeface="PingFang SC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A580C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C2626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DC2626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2563EB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2563EB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7C3AED"/>
              </a:solidFill>
              <a:ln w="19050"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D4A574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Sheet1!$A$2:$A$8</c:f>
              <c:strCache>
                <c:ptCount val="7"/>
                <c:pt idx="0">
                  <c:v>原材料卡点</c:v>
                </c:pt>
                <c:pt idx="1">
                  <c:v>中系零部件</c:v>
                </c:pt>
                <c:pt idx="2">
                  <c:v>中系整机</c:v>
                </c:pt>
                <c:pt idx="3">
                  <c:v>美系软件</c:v>
                </c:pt>
                <c:pt idx="4">
                  <c:v>美系整机</c:v>
                </c:pt>
                <c:pt idx="5">
                  <c:v>仿真/数据</c:v>
                </c:pt>
                <c:pt idx="6">
                  <c:v>应用层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20</c:v>
                </c:pt>
                <c:pt idx="2">
                  <c:v>20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  <a:latin typeface="PingFang SC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100" b="1">
                <a:solidFill>
                  <a:srgbClr val="0F2740"/>
                </a:solidFill>
                <a:latin typeface="PingFang SC"/>
              </a:rPr>
              <a:t>206 引用按 Tier 分布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6A34A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563EB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EA580C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Tier 1 一手/权威 · 81 条 (39%)</c:v>
                </c:pt>
                <c:pt idx="1">
                  <c:v>Tier 2 券商/Bloomberg · 84 条 (41%)</c:v>
                </c:pt>
                <c:pt idx="2">
                  <c:v>Tier 3 行业媒体 · 41 条 (20%)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</c:v>
                </c:pt>
                <c:pt idx="1">
                  <c:v>41</c:v>
                </c:pt>
                <c:pt idx="2">
                  <c:v>20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  <a:latin typeface="PingFang SC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00">
              <a:latin typeface="PingFang SC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4A574"/>
                </a:solidFill>
                <a:latin typeface="PingFang SC"/>
              </a:rPr>
              <a:t>PRIVATE EQUITY · STRICTLY PRIVATE AND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全球具身智能产业链格局分析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PingFang SC"/>
              </a:rPr>
              <a:t>Global Embodied AI Industry Chain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CADCFC"/>
                </a:solidFill>
                <a:latin typeface="PingFang SC"/>
              </a:rPr>
              <a:t>人形机器人 与 具身智能 产业 PE 视角研究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18288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F6B17A"/>
                </a:solidFill>
                <a:latin typeface="PingFang SC"/>
              </a:rPr>
              <a:t>Version 10 · 76 → 35 高密度页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PingFang SC"/>
              </a:rPr>
              <a:t>数据截止：2026 年 5 月  |  机密文档  |  仅供 PE 内部决策使用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EXECUTIVE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目录与 8 个关键数字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Table of Contents &amp; KPI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740"/>
                </a:solidFill>
                <a:latin typeface="PingFang SC"/>
              </a:rPr>
              <a:t>目录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691640"/>
            <a:ext cx="292608" cy="292608"/>
          </a:xfrm>
          <a:prstGeom prst="ellipse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916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733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执行摘要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8745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当前格局 / 推演 / 5 行动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148840"/>
            <a:ext cx="292608" cy="292608"/>
          </a:xfrm>
          <a:prstGeom prst="ellipse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488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1305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行业本质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3317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4 拐点 + 顶尖人物矩阵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2606040"/>
            <a:ext cx="292608" cy="292608"/>
          </a:xfrm>
          <a:prstGeom prst="ellipse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060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5877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技术路线之争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7889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VLA vs 世界模型 / 数据 / Scaling Law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3063240"/>
            <a:ext cx="292608" cy="292608"/>
          </a:xfrm>
          <a:prstGeom prst="ellipse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632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044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商业化悬崖 (DD)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461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Autonomy / 订单 Tier / 替代方案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3520440"/>
            <a:ext cx="292608" cy="292608"/>
          </a:xfrm>
          <a:prstGeom prst="ellipse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204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5021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6 种玩家路径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37033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Tesla / Figure / 1X / PI / 中硬件 / 中场景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3977639"/>
            <a:ext cx="292608" cy="292608"/>
          </a:xfrm>
          <a:prstGeom prst="ellipse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7763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9593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产业链与硬件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1605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BOM / Top10 / 市场规模</a:t>
            </a:r>
          </a:p>
        </p:txBody>
      </p:sp>
      <p:sp>
        <p:nvSpPr>
          <p:cNvPr id="34" name="Oval 33"/>
          <p:cNvSpPr/>
          <p:nvPr/>
        </p:nvSpPr>
        <p:spPr>
          <a:xfrm>
            <a:off x="457200" y="4434840"/>
            <a:ext cx="292608" cy="292608"/>
          </a:xfrm>
          <a:prstGeom prst="ellipse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4348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4165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中美格局与政策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6177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16 环节 / 三情景 / 估值</a:t>
            </a:r>
          </a:p>
        </p:txBody>
      </p:sp>
      <p:sp>
        <p:nvSpPr>
          <p:cNvPr id="38" name="Oval 37"/>
          <p:cNvSpPr/>
          <p:nvPr/>
        </p:nvSpPr>
        <p:spPr>
          <a:xfrm>
            <a:off x="457200" y="4892040"/>
            <a:ext cx="292608" cy="292608"/>
          </a:xfrm>
          <a:prstGeom prst="ellipse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8920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8737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PE 内部工具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50749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IC Memo / Q&amp;A / 决策树</a:t>
            </a:r>
          </a:p>
        </p:txBody>
      </p:sp>
      <p:sp>
        <p:nvSpPr>
          <p:cNvPr id="42" name="Oval 41"/>
          <p:cNvSpPr/>
          <p:nvPr/>
        </p:nvSpPr>
        <p:spPr>
          <a:xfrm>
            <a:off x="457200" y="5349240"/>
            <a:ext cx="292608" cy="292608"/>
          </a:xfrm>
          <a:prstGeom prst="ellipse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3492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330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数据来源 (206 refs)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5321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Tier 1/2/3 + 置信度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13716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740"/>
                </a:solidFill>
                <a:latin typeface="PingFang SC"/>
              </a:rPr>
              <a:t>8 个关键数字 · KPI Dashboard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0" y="1691640"/>
            <a:ext cx="14173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0" y="1691640"/>
            <a:ext cx="54864" cy="1188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178308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1.8 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233172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PingFang SC"/>
              </a:rPr>
              <a:t>2025 全球出货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256032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YoY +508% IDC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52360" y="1691640"/>
            <a:ext cx="14173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0" y="1691640"/>
            <a:ext cx="54864" cy="11887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89520" y="178308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80-95%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89520" y="233172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PingFang SC"/>
              </a:rPr>
              <a:t>中国出货占比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89520" y="256032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IDC vs GGII 口径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61120" y="1691640"/>
            <a:ext cx="14173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61120" y="1691640"/>
            <a:ext cx="54864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178308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2.8×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233172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PingFang SC"/>
              </a:rPr>
              <a:t>中美 BOM 剪刀差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98280" y="256032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$46K vs $130K MS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69880" y="1691640"/>
            <a:ext cx="14173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469880" y="1691640"/>
            <a:ext cx="54864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07040" y="178308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$39.5B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07040" y="233172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PingFang SC"/>
              </a:rPr>
              <a:t>Figure 估值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256032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美系 Top1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943600" y="2971800"/>
            <a:ext cx="14173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43600" y="2971800"/>
            <a:ext cx="54864" cy="1188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80760" y="306324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$75 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80760" y="36118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PingFang SC"/>
              </a:rPr>
              <a:t>2030E 年度 TAM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中位; 区间 $30-144亿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452360" y="2971800"/>
            <a:ext cx="14173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0" y="2971800"/>
            <a:ext cx="54864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89520" y="306324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69-113%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36118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PingFang SC"/>
              </a:rPr>
              <a:t>出货 CAGR 25-30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89520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1.8万→25-80万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61120" y="2971800"/>
            <a:ext cx="14173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961120" y="2971800"/>
            <a:ext cx="54864" cy="11887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98280" y="306324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¥373 亿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98280" y="36118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PingFang SC"/>
              </a:rPr>
              <a:t>中国具身融资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98280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YTD 日均 ¥2.5亿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69880" y="2971800"/>
            <a:ext cx="14173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69880" y="2971800"/>
            <a:ext cx="54864" cy="1188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07040" y="3063240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¥550+ 亿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36118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PingFang SC"/>
              </a:rPr>
              <a:t>中国地方基金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07040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累计承诺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57200" y="4572000"/>
            <a:ext cx="11247120" cy="1737360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核心一句话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49377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PingFang SC"/>
              </a:rPr>
              <a:t>"美强软件、中强硬件" 的非对称稳态已成型。</a:t>
            </a:r>
            <a:r>
              <a:rPr sz="1100" b="0" i="0">
                <a:solidFill>
                  <a:srgbClr val="1A1A1A"/>
                </a:solidFill>
                <a:latin typeface="PingFang SC"/>
              </a:rPr>
              <a:t> 中国主导出货（80-95%）+ 硬件 BOM 优势（2.8×），美国主导 VLA 模型 + 估值（Figure $39.5B、Skild $14B 在谈）；资本市场把"软件大脑"和"硬件本体"按 5-10× 估值分层。2027-2028 是关键验证窗口（Tesla Optimus 量产 + 中系 IPO + 中国 550 亿补贴见效 + VLA Scaling Law）。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0.1 当前格局核心结论 + 0.2 三情景推演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当前格局 · 中美非对称稳态 + 三种未来情景推演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0.1 · 当前格局核心结论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37360"/>
            <a:ext cx="274320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830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PingFang SC"/>
              </a:rPr>
              <a:t>🇨🇳 中国 · 主导硬件 + 出货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240280"/>
            <a:ext cx="2560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全球出货 80-95%（IDC vs GGII）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BOM $32-46K vs 美 $130K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出货榜前六悉数中国厂商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智元/宇树/优必选 ~70% 中国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2025 YTD 融资 ¥373 亿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纯人形（剔机器狗）70-85%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737360"/>
            <a:ext cx="274320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737360"/>
            <a:ext cx="27432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7830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PingFang SC"/>
              </a:rPr>
              <a:t>🇺🇸 美国 · 主导模型 + 估值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240280"/>
            <a:ext cx="2560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Figure $39.5B / Skild $14B 在谈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Physical Intelligence $11B 在谈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Apptronik $5B / 1X $10B+ 在谈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5 家估值合计 ~$79.5B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2025 营收估 ~$105M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1000" b="1" i="0">
                <a:solidFill>
                  <a:srgbClr val="1A1A1A"/>
                </a:solidFill>
                <a:latin typeface="PingFang SC"/>
              </a:rPr>
              <a:t>加权 PSR ~757×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1000" b="0" i="1">
                <a:solidFill>
                  <a:srgbClr val="1A1A1A"/>
                </a:solidFill>
                <a:latin typeface="PingFang SC"/>
              </a:rPr>
              <a:t>软硬件估值分层 5-10×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42646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0.2 · 三种未来情景（5 年视角）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400800" y="1691640"/>
          <a:ext cx="24688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052560" y="1691640"/>
            <a:ext cx="3108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0F2740"/>
                </a:solidFill>
                <a:latin typeface="PingFang SC"/>
              </a:rPr>
              <a:t>China-led（35%）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中国硬件成本+场景密度赢得全球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2030 累计：中 100万/美 12万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0F2740"/>
                </a:solidFill>
                <a:latin typeface="PingFang SC"/>
              </a:rPr>
              <a:t>US-led（15-25%）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humanoid IRA + Tesla $20K 兑现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2030 累计：中 30万/美 80万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0F2740"/>
                </a:solidFill>
                <a:latin typeface="PingFang SC"/>
              </a:rPr>
              <a:t>Bifurcation 基准（40-50%）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D4A574"/>
                </a:solidFill>
                <a:latin typeface="PingFang SC"/>
              </a:rPr>
              <a:t>双轨平行，BOM 重合 &lt; 30%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2030 累计：中 60万/美 25万 = 90万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ASP $12K (中) / $40K (美)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A1A1A"/>
                </a:solidFill>
                <a:latin typeface="PingFang SC"/>
              </a:rPr>
              <a:t>PE 行动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：双线对冲（中硬件 + 美软件）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6400800" y="4297680"/>
          <a:ext cx="5669280" cy="2103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0.2 关键判断 + 0.3 PE 行动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12 条关键判断 + 5 个最值得做的决定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对内交付材料 · 每条 ≤ 2 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0.2 · 12 条关键判断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91640"/>
            <a:ext cx="58521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① 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中硬件 + 美软件稳态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 — 未来 5 年难反转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② 双轨平行是基准情景（40-50%）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③ 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2027-2028 关键验证窗口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 — Tesla 量产 + 中系 IPO + 补贴见效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④ 美系一线估值泡沫 — 2027-2028 回调 50-70%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⑤ 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中系核心零部件是 Alpha 主战场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（绿的/双环/步科）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⑥ humanoid IRA 是 watchlist 项（区间 20-50%）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⑦ 仿真/数据是双轨稀缺资产（NVIDIA Isaac 接近独占）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⑧ 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中国 550 亿补贴占 GDP ~0.08%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（vs EV 高峰 ~0.51%，仅 15-20%）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⑨ 出口管制双向反制：美→中 算力；中→美 稀土/镁/PEEK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⑩ 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年度 TAM $30-144 亿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（中位 $75 亿）/ CAGR 69-113%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⑪ 稀土永磁低估卡点：占 BOM 0.5% 但中国 92% 全球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⑫ 宁德×智元×千寻"中州基地" = 电池厂+机器人协同范式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42646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0.3 · 5 个最值得做的决定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691640"/>
            <a:ext cx="576072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691640"/>
            <a:ext cx="73152" cy="914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76479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6A34A"/>
                </a:solidFill>
                <a:latin typeface="PingFang SC"/>
              </a:rPr>
              <a:t>① 2026 H1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76479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中系卡点 + 原材料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0574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未上市丝杠/灵巧手/六维力/IMU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上游金力永磁/中研股份/中复神鹰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定价锚：2030 产能 × PE 15-25×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651760"/>
            <a:ext cx="576072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2651760"/>
            <a:ext cx="73152" cy="914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7249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6A34A"/>
                </a:solidFill>
                <a:latin typeface="PingFang SC"/>
              </a:rPr>
              <a:t>② 2026 IPO 窗口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7249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中系一线整机跟投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0175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宇树(2026.3.20 受理)/智元/银河通用/星动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上限 ¥150-250 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611880"/>
            <a:ext cx="576072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611880"/>
            <a:ext cx="73152" cy="9144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68503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PingFang SC"/>
              </a:rPr>
              <a:t>③ 2027 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6850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美系一线 · 限观察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9776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Figure/Skild/π0 系统性泡沫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当前权重 ≤ 5%，2027 H2 加至 10-15%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572000"/>
            <a:ext cx="576072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4572000"/>
            <a:ext cx="73152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64515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563EB"/>
                </a:solidFill>
                <a:latin typeface="PingFang SC"/>
              </a:rPr>
              <a:t>④ 2026 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6451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仿真/数据/铍铜种子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9377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国内对标 NVIDIA Isaac / AgiBot World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铍铜国产替代候选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早期 + AI 估值溢价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5532120"/>
            <a:ext cx="576072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5532120"/>
            <a:ext cx="73152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560527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  <a:latin typeface="PingFang SC"/>
              </a:rPr>
              <a:t>⑤ 2026 H2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60527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7 关键监测点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8978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Optimus V3 / Tesla 100万 / 中国补贴 / IPO 估值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 humanoid IRA / VLA Scaling / 稀土反制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926080"/>
            <a:ext cx="548640" cy="731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ingFang SC"/>
              </a:rPr>
              <a:t>行业本质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PingFang SC"/>
              </a:rPr>
              <a:t>4 拐点 · 顶尖人物 10×5 矩阵 · 5 分歧线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PingFang SC"/>
              </a:rPr>
              <a:t>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PingFang SC"/>
              </a:rPr>
              <a:t>STRICTLY PRIVATE &amp;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1.1 拐点驱动 + 1.2 人物矩阵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为什么是现在 · 4 拐点驱动 + 顶尖人物 10×5 观点矩阵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1.1 · 4 个拐点驱动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36576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64008" cy="1097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6479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563EB"/>
                </a:solidFill>
                <a:latin typeface="PingFang SC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0136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740"/>
                </a:solidFill>
                <a:latin typeface="PingFang SC"/>
              </a:rPr>
              <a:t>技术拐点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48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VLA 范式成熟 · 2023 RT-2 → 2025 Helix/π0/GR00T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SOTA OpenVLA-OFT @ LIBERO 97.1%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52928"/>
            <a:ext cx="36576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852928"/>
            <a:ext cx="64008" cy="10972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9260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A34A"/>
                </a:solidFill>
                <a:latin typeface="PingFang SC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6265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740"/>
                </a:solidFill>
                <a:latin typeface="PingFang SC"/>
              </a:rPr>
              <a:t>算力拐点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31012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训 7B VLA ≈ 23K GPU-h &lt; $100K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Jetson Thor 端侧 2,070 FP4 TFLOPS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014216"/>
            <a:ext cx="36576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14216"/>
            <a:ext cx="64008" cy="10972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08736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A580C"/>
                </a:solidFill>
                <a:latin typeface="PingFang SC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2394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740"/>
                </a:solidFill>
                <a:latin typeface="PingFang SC"/>
              </a:rPr>
              <a:t>数据拐点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471416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Open X 100 万+ / AgiBot 100 万+ / 217 任务</a:t>
            </a:r>
          </a:p>
          <a:p>
            <a:pPr>
              <a:spcAft>
                <a:spcPts val="0"/>
              </a:spcAft>
            </a:pPr>
            <a:r>
              <a:rPr sz="800" b="0" i="1">
                <a:solidFill>
                  <a:srgbClr val="1A1A1A"/>
                </a:solidFill>
                <a:latin typeface="PingFang SC"/>
              </a:rPr>
              <a:t>但 Jang: 数据稀缺仍是 Physical AGI 瓶颈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75504"/>
            <a:ext cx="36576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75504"/>
            <a:ext cx="64008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2486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C2626"/>
                </a:solidFill>
                <a:latin typeface="PingFang SC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8523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740"/>
                </a:solidFill>
                <a:latin typeface="PingFang SC"/>
              </a:rPr>
              <a:t>经济拐点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63270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美制造业 2030 缺口 210 万 / 中国劳动人口年减 800 万</a:t>
            </a:r>
          </a:p>
          <a:p>
            <a:pPr>
              <a:spcAft>
                <a:spcPts val="0"/>
              </a:spcAft>
            </a:pPr>
            <a:r>
              <a:rPr sz="800" b="0" i="1">
                <a:solidFill>
                  <a:srgbClr val="1A1A1A"/>
                </a:solidFill>
                <a:latin typeface="PingFang SC"/>
              </a:rPr>
              <a:t>但 ROI：美 6.5 年 / 中 12 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142646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1.2 · 顶尖人物 10×5 观点矩阵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4297680" y="1691640"/>
          <a:ext cx="78638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  <a:gridCol w="1310640"/>
                <a:gridCol w="1310640"/>
                <a:gridCol w="1310640"/>
              </a:tblGrid>
              <a:tr h="332509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人物 / 机构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拐点已到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工业 PMF 2026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C 端 2030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必须双足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Tesla 会赢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a16z (Casado/Hsu/Polovets)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Sequoia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6A34A"/>
                          </a:solidFill>
                          <a:latin typeface="PingFang SC"/>
                        </a:rPr>
                        <a:t>强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不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Brett Adcock (Figure)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6A34A"/>
                          </a:solidFill>
                          <a:latin typeface="PingFang SC"/>
                        </a:rPr>
                        <a:t>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6A34A"/>
                          </a:solidFill>
                          <a:latin typeface="PingFang SC"/>
                        </a:rPr>
                        <a:t>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6A34A"/>
                          </a:solidFill>
                          <a:latin typeface="PingFang SC"/>
                        </a:rPr>
                        <a:t>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6A34A"/>
                          </a:solidFill>
                          <a:latin typeface="PingFang SC"/>
                        </a:rPr>
                        <a:t>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Eric Jang (1X)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不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Hausman/Levine (PI)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6A34A"/>
                          </a:solidFill>
                          <a:latin typeface="PingFang SC"/>
                        </a:rPr>
                        <a:t>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王兴兴 (宇树)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不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王鹤 (银河通用)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Vanhoucke (Waymo)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不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Yann LeCun (AMI Labs)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强反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强反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1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Marc Raibert (BD)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同意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反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反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中立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4297680" y="5486400"/>
            <a:ext cx="7863840" cy="914400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553212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4A574"/>
                </a:solidFill>
                <a:latin typeface="PingFang SC"/>
              </a:rPr>
              <a:t>3 个隐藏共识 · 矩阵 takeaway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5760720"/>
            <a:ext cx="7680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PingFang SC"/>
              </a:rPr>
              <a:t>①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"Tesla 会赢"样本内 0 支持票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（注：不含 Musk/Jonas/Wood 等 bulls；带后分歧 5:5）  ②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时间表激进+全乐观仅 Adcock 一人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  ③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必须双足唯一公开反对：Marc Raibert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00800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注：非随机抽样；样本不含 Tesla bulls；定义：拐点已到=GPT 时刻；强/不=强同意/不同意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1.3-1.4 分歧线 + 引语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5 条核心分歧线 + 最具穿透力的引语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1.3 · 5 条核心分歧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64008" cy="914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373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6A34A"/>
                </a:solidFill>
                <a:latin typeface="PingFang SC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7830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GPT 时刻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7830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乐观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：Adcock/王兴兴/Levine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悲观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：LeCun/Karpathy/Pinto</a:t>
            </a:r>
          </a:p>
          <a:p>
            <a:pPr>
              <a:spcAft>
                <a:spcPts val="0"/>
              </a:spcAft>
            </a:pPr>
            <a:r>
              <a:rPr sz="800" b="0" i="1">
                <a:solidFill>
                  <a:srgbClr val="1A1A1A"/>
                </a:solidFill>
                <a:latin typeface="PingFang SC"/>
              </a:rPr>
              <a:t>a16z 内 Casado: 估值疯狂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60904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6090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0662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PingFang SC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7523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VLA vs 世界模型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752344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VLA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：PI π0/Figure Helix/Tesla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WM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：1X/NVIDIA GEAR/LeCun AMI/王兴兴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30168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630168"/>
            <a:ext cx="64008" cy="9144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67588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A580C"/>
                </a:solidFill>
                <a:latin typeface="PingFang SC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7216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数据来源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721608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真机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（美）：PI/Figure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仿真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（中）：银河/NVIDIA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视频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（学术）：Pinto/Jang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599432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599432"/>
            <a:ext cx="64008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6451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C3AED"/>
                </a:solidFill>
                <a:latin typeface="PingFang SC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6908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形态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4690872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必须双足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：Adcock/Bornich/王兴兴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形态多元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：Raibert/Skild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非人形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：Symbotic/Locus 已赢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68696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68696"/>
            <a:ext cx="6400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61441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PingFang SC"/>
              </a:rPr>
              <a:t>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66013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谁会赢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660136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通用 brain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：PI/Skild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垂直整机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：Figure/Apptronik</a:t>
            </a:r>
          </a:p>
          <a:p>
            <a:pPr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PingFang SC"/>
              </a:rPr>
              <a:t>中国低成本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：宇树/智元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142646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1.4 · 最具穿透力引语 (Top 8)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1691640"/>
            <a:ext cx="5943600" cy="566928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920" y="1691640"/>
            <a:ext cx="45720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17373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1">
                <a:solidFill>
                  <a:srgbClr val="1A1A1A"/>
                </a:solidFill>
                <a:latin typeface="PingFang SC"/>
              </a:rPr>
              <a:t>"Within 10 years, every home will have a humanoid."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02082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PingFang SC"/>
              </a:rPr>
              <a:t>— Brett Adcock (Figure CEO), Time 10/2025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2295144"/>
            <a:ext cx="5943600" cy="566928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2295144"/>
            <a:ext cx="45720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2340864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1">
                <a:solidFill>
                  <a:srgbClr val="1A1A1A"/>
                </a:solidFill>
                <a:latin typeface="PingFang SC"/>
              </a:rPr>
              <a:t>"More like the Apollo program than a science experiment."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2624328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PingFang SC"/>
              </a:rPr>
              <a:t>— Sergey Levine (PI), Dwarkesh 9/2025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2898648"/>
            <a:ext cx="5943600" cy="566928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2898648"/>
            <a:ext cx="45720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294436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1">
                <a:solidFill>
                  <a:srgbClr val="1A1A1A"/>
                </a:solidFill>
                <a:latin typeface="PingFang SC"/>
              </a:rPr>
              <a:t>"LLMs will become useless within 5 years."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22783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PingFang SC"/>
              </a:rPr>
              <a:t>— Yann LeCun (AMI Labs), 10/27/2025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3502152"/>
            <a:ext cx="5943600" cy="566928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7920" y="3502152"/>
            <a:ext cx="45720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354787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1">
                <a:solidFill>
                  <a:srgbClr val="1A1A1A"/>
                </a:solidFill>
                <a:latin typeface="PingFang SC"/>
              </a:rPr>
              <a:t>"Humanoids are most hyped — valuations crazy before any revenue."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3831336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PingFang SC"/>
              </a:rPr>
              <a:t>— Leo Polovets (Humba VC), a16z 播客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4105656"/>
            <a:ext cx="5943600" cy="566928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4105656"/>
            <a:ext cx="45720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55080" y="4151376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1">
                <a:solidFill>
                  <a:srgbClr val="1A1A1A"/>
                </a:solidFill>
                <a:latin typeface="PingFang SC"/>
              </a:rPr>
              <a:t>"数据关注度有点太高，最大问题在模型；VLA 是傻瓜式架构。"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4348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PingFang SC"/>
              </a:rPr>
              <a:t>— 王兴兴 (宇树), 21 经济 8/9/2025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17920" y="4709160"/>
            <a:ext cx="5943600" cy="566928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17920" y="4709160"/>
            <a:ext cx="45720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5080" y="47548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1">
                <a:solidFill>
                  <a:srgbClr val="1A1A1A"/>
                </a:solidFill>
                <a:latin typeface="PingFang SC"/>
              </a:rPr>
              <a:t>"工厂先行，家用还要等；让机器像人的不是腿和手，是智能。"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03834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PingFang SC"/>
              </a:rPr>
              <a:t>— Marc Raibert (BD), Digitimes 4/2025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0" y="5312664"/>
            <a:ext cx="5943600" cy="566928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5312664"/>
            <a:ext cx="45720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5358384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1">
                <a:solidFill>
                  <a:srgbClr val="1A1A1A"/>
                </a:solidFill>
                <a:latin typeface="PingFang SC"/>
              </a:rPr>
              <a:t>"5-10 年才能什么活儿都干；特别不建议讲具身 AGI。"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55080" y="5641848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PingFang SC"/>
              </a:rPr>
              <a:t>— 王鹤 (银河通用), 36Kr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5916168"/>
            <a:ext cx="5943600" cy="566928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5916168"/>
            <a:ext cx="45720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55080" y="596188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1">
                <a:solidFill>
                  <a:srgbClr val="1A1A1A"/>
                </a:solidFill>
                <a:latin typeface="PingFang SC"/>
              </a:rPr>
              <a:t>"Real-world deployments still largely confined to demos and pilots."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55080" y="62453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PingFang SC"/>
              </a:rPr>
              <a:t>— Oliver Hsu, a16z, 1/13/2026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926080"/>
            <a:ext cx="548640" cy="731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ingFang SC"/>
              </a:rPr>
              <a:t>技术路线之争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PingFang SC"/>
              </a:rPr>
              <a:t>VLA vs 世界模型 · 数据三路 · 形态 · Scaling Law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PingFang SC"/>
              </a:rPr>
              <a:t>8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PingFang SC"/>
              </a:rPr>
              <a:t>STRICTLY PRIVATE &amp;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2.1-2.5 技术路线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技术路线之争 · 真正的胜负所在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VLA vs 世界模型 · 数据三路 · 形态之争 · Scaling Law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669280" cy="2194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66928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173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ingFang SC"/>
              </a:rPr>
              <a:t>路线 ① · 端到端 VLA vs 显式世界模型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9164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2740"/>
                </a:solidFill>
                <a:latin typeface="PingFang SC"/>
              </a:rPr>
              <a:t>VLA 派 · 主流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2606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PI (π0/π0.5)：Flow-matching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Figure (Helix 02)：S1+S2 双系统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Tesla 垂直整合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Apptronik × Google DM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PE 投注：$60B+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69164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  <a:latin typeface="PingFang SC"/>
              </a:rPr>
              <a:t>世界模型派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1920240"/>
            <a:ext cx="2606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1X World Model（Eric Jang）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NVIDIA GEAR (GR00T N1)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Yann LeCun → AMI Labs ($1B)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王兴兴 UnifoLM-WMA-0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0" i="1">
                <a:solidFill>
                  <a:srgbClr val="1A1A1A"/>
                </a:solidFill>
                <a:latin typeface="PingFang SC"/>
              </a:rPr>
              <a:t>学术声誉强 / 融资小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371600"/>
            <a:ext cx="5852160" cy="2194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5852160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417320"/>
            <a:ext cx="5669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ingFang SC"/>
              </a:rPr>
              <a:t>路线 ② · 必须双足吗 · 形态之争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69164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  <a:latin typeface="PingFang SC"/>
              </a:rPr>
              <a:t>必须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16916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PingFang SC"/>
              </a:rPr>
              <a:t>Adcock/Bornich/王兴兴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16916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2740"/>
                </a:solidFill>
                <a:latin typeface="PingFang SC"/>
              </a:rPr>
              <a:t>$30-130K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169164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Figure F.03 / NEO / 宇树 G1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10312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PingFang SC"/>
              </a:rPr>
              <a:t>多元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210312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PingFang SC"/>
              </a:rPr>
              <a:t>Raibert/Skild omni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10312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2740"/>
                </a:solidFill>
                <a:latin typeface="PingFang SC"/>
              </a:rPr>
              <a:t>$15-50K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210312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轮式+双臂+灵巧手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514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6A34A"/>
                </a:solidFill>
                <a:latin typeface="PingFang SC"/>
              </a:rPr>
              <a:t>非人形已赢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1460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PingFang SC"/>
              </a:rPr>
              <a:t>Symbotic/Locus/AutoStore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25146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F2740"/>
                </a:solidFill>
                <a:latin typeface="PingFang SC"/>
              </a:rPr>
              <a:t>$5-50K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25146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ingFang SC"/>
              </a:rPr>
              <a:t>17K AMR / Walmart 40% 降本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063240"/>
            <a:ext cx="56692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1546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1A1A1A"/>
                </a:solidFill>
                <a:latin typeface="PingFang SC"/>
              </a:rPr>
              <a:t>Marc Raibert (BD): "让机器人像人不是腿和手，是智能" · 工业场景轮式 + 双臂 + 灵巧手可能 95% 替代双足，成本低 30-50%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703320"/>
            <a:ext cx="5669280" cy="2697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3703320"/>
            <a:ext cx="5669280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749039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ingFang SC"/>
              </a:rPr>
              <a:t>路线 ③ · 数据来源 · 真机 vs 仿真 vs 视频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502920" y="4041648"/>
          <a:ext cx="55778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9640"/>
                <a:gridCol w="1859280"/>
                <a:gridCol w="1394460"/>
                <a:gridCol w="1394460"/>
              </a:tblGrid>
              <a:tr h="571500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路径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代表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规模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风险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5715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真机 (美)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PI/Figure/Hausman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Open X 100万+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贵+慢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仿真 (中)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银河 GraspVLA/NVIDIA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10 亿帧/430,000× 实时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Sim-to-Real Gap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5715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视频 (学术)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Jang/Pinto/V-JEPA2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Ego4D 3,670h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视觉→action 桥梁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309360" y="3703320"/>
            <a:ext cx="5852160" cy="2697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3703320"/>
            <a:ext cx="5852160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3749039"/>
            <a:ext cx="5669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ingFang SC"/>
              </a:rPr>
              <a:t>路线 ④ · Scaling Law · GPT 时刻到了吗？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023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2740"/>
                </a:solidFill>
                <a:latin typeface="PingFang SC"/>
              </a:rPr>
              <a:t>当前 SOTA 实测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8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LIBERO 4: OpenVLA-OFT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97.1%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CALVIN: π0 75-85%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SimplerEnv: GR00T 60-70%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0" i="0">
                <a:solidFill>
                  <a:srgbClr val="DC2626"/>
                </a:solidFill>
                <a:latin typeface="PingFang SC"/>
              </a:rPr>
              <a:t>真实环境 30-50%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1X NEO 官方 60-70%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Tesla: "not in usage"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402336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4A574"/>
                </a:solidFill>
                <a:latin typeface="PingFang SC"/>
              </a:rPr>
              <a:t>GPT 时刻预测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29768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Tedrake：threshold 后非线性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1700h 真机 + 47K 仿真 = 当前最大 LBM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预计 2027-2028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（数据 1 亿+ / 模型 30B+）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0" i="1">
                <a:solidFill>
                  <a:srgbClr val="1A1A1A"/>
                </a:solidFill>
                <a:latin typeface="PingFang SC"/>
              </a:rPr>
              <a:t>Finn: scale subordinate to solving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926080"/>
            <a:ext cx="548640" cy="731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ingFang SC"/>
              </a:rPr>
              <a:t>商业化悬崖 (DD)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PingFang SC"/>
              </a:rPr>
              <a:t>Autonomy · Tier · 替代方案 · RaaS · 投资结论变更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PingFang SC"/>
              </a:rPr>
              <a:t>10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PingFang SC"/>
              </a:rPr>
              <a:t>STRICTLY PRIVATE &amp;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3.1 Autonomy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11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真实 Autonomy Level · 行业部署评分卡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基于 SAE 改编 L0-L4 分级 · 10 家公司完整对比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11247120" cy="502920"/>
          </a:xfrm>
          <a:prstGeom prst="roundRect">
            <a:avLst>
              <a:gd name="adj" fmla="val 2000"/>
            </a:avLst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D4A574"/>
                </a:solidFill>
                <a:latin typeface="PingFang SC"/>
              </a:rPr>
              <a:t>核心结论</a:t>
            </a:r>
            <a:r>
              <a:rPr sz="1100" b="0" i="0">
                <a:solidFill>
                  <a:srgbClr val="FFFFFF"/>
                </a:solidFill>
                <a:latin typeface="PingFang SC"/>
              </a:rPr>
              <a:t>  ·  </a:t>
            </a:r>
            <a:r>
              <a:rPr sz="1100" b="1" i="0">
                <a:solidFill>
                  <a:srgbClr val="FFFFFF"/>
                </a:solidFill>
                <a:latin typeface="PingFang SC"/>
              </a:rPr>
              <a:t>媒体宣传 "~$3B 人形订单" 中 Tier A 接近 0；行业普遍 Tier D (PoC)；人形相对 AMR/协作臂 ROI 差 5-16×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011680"/>
          <a:ext cx="11247117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1828800"/>
                <a:gridCol w="1280159"/>
                <a:gridCol w="2286000"/>
                <a:gridCol w="4389119"/>
              </a:tblGrid>
              <a:tr h="374072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公司 / 型号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部署点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Autonomy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运行数据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关键披露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374072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Tesla Optimus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Fremont (R&amp;D) 无客户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L0-L1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零规模化部署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DC2626"/>
                          </a:solidFill>
                          <a:latin typeface="PingFang SC"/>
                        </a:rPr>
                        <a:t>Musk Q4 2025: "not in usage in our factories in a material way"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Figure 02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BMW Spartanburg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L3（争议）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1,250h / 90K 钣金 / 30K X3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Adcock: "no teleop in market"</a:t>
                      </a:r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；Scott Walter 等指演示有遥操作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74072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Figure 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BMW + Munich 分阶段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声称 L3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2026 分阶段铺开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独立验证 [UNDISCLOSED]；任何未来 teleop 都打击 $39B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1X NEO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消费者 pre-order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L0-L2 混合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DC2626"/>
                          </a:solidFill>
                          <a:latin typeface="PingFang SC"/>
                        </a:rPr>
                        <a:t>CEO 公开 60-70% 自主率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"Expert Mode" 远程操作员；CEO: "running towards a cliff"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74072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Apptronik Apollo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Mercedes / GXO / Jabil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L2 (lab-trained)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仍处 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商业 scale 目标 2026 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Agility Digit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GXO / Mercado Libre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L3 in defined ODD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100K+ 货箱 (2025.11) / 2:1 电池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迄今</a:t>
                      </a:r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唯一公开商业 RaaS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74072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智元远征 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中国移动数据采集 PoC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L0-L1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data-collection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实质 R&amp;D 采集合同，不是生产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宇树 H1/G1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demo / 教育 / 科研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L0-L1 工厂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无 24×7 生产部署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G1 占公司 60% 营收（机器狗+教育为主）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74072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BD Atlas (新)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Hyundai / Google DeepMind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L2-L3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CES 2026 商业揭幕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2026 整年订单已锁定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8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UBTech Walker S2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中国政府 / 工业站点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L1-L2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11 月交付节奏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政府采购投标基本绑定，但端用多为非生产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6217920"/>
            <a:ext cx="11247120" cy="274320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236208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1">
                <a:solidFill>
                  <a:srgbClr val="EA580C"/>
                </a:solidFill>
                <a:latin typeface="PingFang SC"/>
              </a:rPr>
              <a:t>⚠ MTBF / MTBI 数字全行业缺失 · "任何省略 MTBF 的 PE pitch deck 应视为尽调不完整"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3.2 订单质量分级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12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订单质量 · Tier A-E 分级框架 + Top 10 订单重新评级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媒体引述 ~$3B 中：真 firm Tier A+B ≈ $1-1.5B；剩余 $1.5-2B 是 C/D/E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Tier A-E 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91640"/>
            <a:ext cx="237744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365760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ingFang SC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7647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已收款不可撤销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057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PingFang SC"/>
              </a:rPr>
              <a:t>取消风险 &lt; 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560320"/>
            <a:ext cx="237744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365760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56032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ingFang SC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6334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Firm 采购合同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92607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PingFang SC"/>
              </a:rPr>
              <a:t>取消风险 5-15%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29000"/>
            <a:ext cx="237744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429000"/>
            <a:ext cx="365760" cy="7772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2900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ingFang SC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5021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Master 框架/MSA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94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PingFang SC"/>
              </a:rPr>
              <a:t>取消风险 30-60%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297680"/>
            <a:ext cx="237744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297680"/>
            <a:ext cx="365760" cy="7772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29768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ingFang SC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3708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付费 PoC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PingFang SC"/>
              </a:rPr>
              <a:t>取消风险 60-80%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166360"/>
            <a:ext cx="237744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166360"/>
            <a:ext cx="365760" cy="7772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16636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ingFang SC"/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395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LOI / MoU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532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PingFang SC"/>
              </a:rPr>
              <a:t>取消风险 75-95%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142646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Top 10 公开订单 · 完整重新分级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017520" y="169164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2286000"/>
                <a:gridCol w="1371600"/>
                <a:gridCol w="1097280"/>
                <a:gridCol w="3840480"/>
              </a:tblGrid>
              <a:tr h="342900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#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交易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金额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Tier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caveat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UBTech Walker S 2025 全年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¥11-13 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B/C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政府采购授标即绑定；交付进行中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UBTech-广西防城港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¥2.64 亿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Walker S2；2025.12 交付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UBTech-自贡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¥1.59 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Walker S2；数据采集中心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宇树 2025 工业订单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¥12 亿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EA580C"/>
                          </a:solidFill>
                          <a:latin typeface="PingFang SC"/>
                        </a:rPr>
                        <a:t>B/C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G1 占 60% 营收；教育+小批量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智元+宇树-中移动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¥1.24 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DC2626"/>
                          </a:solidFill>
                          <a:latin typeface="PingFang SC"/>
                        </a:rPr>
                        <a:t>D (PoC)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数据采集 R&amp;D 服务合同，非生产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星动纪元 2025 累计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¥5 亿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EA580C"/>
                          </a:solidFill>
                          <a:latin typeface="PingFang SC"/>
                        </a:rPr>
                        <a:t>B/C/D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50% 海外大概率 D-tier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Apptronik × Merc/GXO/Jabil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[UNDISCLOSED]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DC2626"/>
                          </a:solidFill>
                          <a:latin typeface="PingFang SC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商业 scale 目标 2026 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Agility × GXO / Mercado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100K+ 货箱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B (GXO)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迄今最经实测的人形商业 datapoint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Galbot × CATL/Bosch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"1,000+ 计划"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DC2626"/>
                          </a:solidFill>
                          <a:latin typeface="PingFang SC"/>
                        </a:rPr>
                        <a:t>C/E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未公开单价×数量×交付表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Figure × BMW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未披露 / 11 月 PoC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EA580C"/>
                          </a:solidFill>
                          <a:latin typeface="PingFang SC"/>
                        </a:rPr>
                        <a:t>B+C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Fortune 报道 BMW 反驳 Adcock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429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Tesla 自厂 1,000 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DC2626"/>
                          </a:solidFill>
                          <a:latin typeface="PingFang SC"/>
                        </a:rPr>
                        <a:t>剔除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Musk: "not in usage in a material way"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457200" y="5852160"/>
          <a:ext cx="2560320" cy="822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3017520" y="5852160"/>
            <a:ext cx="8869680" cy="822960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4680" y="589788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4A574"/>
                </a:solidFill>
                <a:latin typeface="PingFang SC"/>
              </a:rPr>
              <a:t>Bottom line · PE 视角订单质量真相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6126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PingFang SC"/>
              </a:rPr>
              <a:t>Tier A（已收款已交付）</a:t>
            </a:r>
            <a:r>
              <a:rPr sz="800" b="0" i="0">
                <a:solidFill>
                  <a:srgbClr val="DC2626"/>
                </a:solidFill>
                <a:latin typeface="PingFang SC"/>
              </a:rPr>
              <a:t>≈ 0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；中国端 Tier B 多为政府采购（数据采集/安防/教育，</a:t>
            </a:r>
            <a:r>
              <a:rPr sz="800" b="0" i="0">
                <a:solidFill>
                  <a:srgbClr val="DC2626"/>
                </a:solidFill>
                <a:latin typeface="PingFang SC"/>
              </a:rPr>
              <a:t>非 ROI 驱动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）；美国端 Tier D（pilot）+ 少量 Tier B（Digit @ GXO RaaS）。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媒体引述 ~$3B 实际 firm 仅 $1-1.5B；剩余 $1.5-2B 是 C/D/E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3.3 替代方案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13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替代方案 ROI · 仓储战争已被非人形赢得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人形相对成熟方案 ROI 差 5-16× · McKinsey: 人形 payback 仍是 Locus 3-5×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371600"/>
          <a:ext cx="548640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371600"/>
          <a:ext cx="5943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645920"/>
                <a:gridCol w="914400"/>
                <a:gridCol w="1554480"/>
                <a:gridCol w="914400"/>
              </a:tblGrid>
              <a:tr h="533400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方案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代表厂商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单台价格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部署规模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关键 KPI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533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AMR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Locus Robotics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RaaS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PingFang SC"/>
                        </a:rPr>
                        <a:t>17K+ AMR / 70 亿+ 拣选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Cube ASRS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AutoStore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$1-5M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1,950+ 系统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6A34A"/>
                          </a:solidFill>
                          <a:latin typeface="PingFang SC"/>
                        </a:rPr>
                        <a:t>99.8% uptime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533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G2P 仓库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Symbotic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$10M+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Walmart 42 DC / 400 系统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FY25 营收 $2.25B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协作臂 6 轴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UR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$11-60K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PingFang SC"/>
                        </a:rPr>
                        <a:t>&gt; 100K cobot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533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人形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Figure/Apptronik/Agility/Tesla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$25-130K+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DC2626"/>
                          </a:solidFill>
                          <a:latin typeface="PingFang SC"/>
                        </a:rPr>
                        <a:t>~几千台 (多为 demo)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MTBF 未披露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57200" y="4663440"/>
            <a:ext cx="11247120" cy="777240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663440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365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专家观点 · 非人形已赢的论据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1">
                <a:solidFill>
                  <a:srgbClr val="1A1A1A"/>
                </a:solidFill>
                <a:latin typeface="PingFang SC"/>
              </a:rPr>
              <a:t>Marc Raibert</a:t>
            </a:r>
            <a:r>
              <a:rPr sz="800" b="0" i="1">
                <a:solidFill>
                  <a:srgbClr val="1A1A1A"/>
                </a:solidFill>
                <a:latin typeface="PingFang SC"/>
              </a:rPr>
              <a:t>（Lex Fridman, BD 创始人）："A dynamic, wheeled system is far more efficient than a bipedal model."  ·  </a:t>
            </a:r>
            <a:r>
              <a:rPr sz="800" b="1" i="1">
                <a:solidFill>
                  <a:srgbClr val="1A1A1A"/>
                </a:solidFill>
                <a:latin typeface="PingFang SC"/>
              </a:rPr>
              <a:t>Locus 官博</a:t>
            </a:r>
            <a:r>
              <a:rPr sz="800" b="0" i="1">
                <a:solidFill>
                  <a:srgbClr val="1A1A1A"/>
                </a:solidFill>
                <a:latin typeface="PingFang SC"/>
              </a:rPr>
              <a:t>："Humanoids may not be ready for the warehouse; Locus Array is."  ·  </a:t>
            </a:r>
            <a:r>
              <a:rPr sz="800" b="1" i="1">
                <a:solidFill>
                  <a:srgbClr val="1A1A1A"/>
                </a:solidFill>
                <a:latin typeface="PingFang SC"/>
              </a:rPr>
              <a:t>McKinsey 2024</a:t>
            </a:r>
            <a:r>
              <a:rPr sz="800" b="0" i="1">
                <a:solidFill>
                  <a:srgbClr val="1A1A1A"/>
                </a:solidFill>
                <a:latin typeface="PingFang SC"/>
              </a:rPr>
              <a:t>：人形 payback 5.3 → 2.8 年，仍是 Locus 部署 3-5×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532120"/>
            <a:ext cx="11247120" cy="914400"/>
          </a:xfrm>
          <a:prstGeom prst="roundRect">
            <a:avLst>
              <a:gd name="adj" fmla="val 2000"/>
            </a:avLst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5532120"/>
            <a:ext cx="54864" cy="9144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Takeaway · PE 行动重定位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PingFang SC"/>
              </a:rPr>
              <a:t>降级人形"工业通用替代"叙事</a:t>
            </a:r>
            <a:r>
              <a:rPr sz="900" b="0" i="0">
                <a:solidFill>
                  <a:srgbClr val="FFFFFF"/>
                </a:solidFill>
                <a:latin typeface="PingFang SC"/>
              </a:rPr>
              <a:t>：Agility / Apptronik 在仓储权重 ≤ 3% (vs Symbotic 等 incumbent)；人形定位重新表述为"少数非结构化任务补位"——而非替代 AMR。</a:t>
            </a:r>
            <a:r>
              <a:rPr sz="900" b="1" i="0">
                <a:solidFill>
                  <a:srgbClr val="FFFFFF"/>
                </a:solidFill>
                <a:latin typeface="PingFang SC"/>
              </a:rPr>
              <a:t>估值锚向真正赢家倾斜</a:t>
            </a:r>
            <a:r>
              <a:rPr sz="900" b="0" i="0">
                <a:solidFill>
                  <a:srgbClr val="FFFFFF"/>
                </a:solidFill>
                <a:latin typeface="PingFang SC"/>
              </a:rPr>
              <a:t>：Symbotic / Locus / AutoStore / UR 才是仓储战争的赢家。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3.4-3.5 合规 + RaaS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14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安全合规 · 法律护城河 + RaaS 资产负债表 · Figure $39B 隐含假设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3.4 · 安全 / 合规 · 工业部署法律护城河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5760720" cy="4663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4663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55778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A1A1A"/>
                </a:solidFill>
                <a:latin typeface="PingFang SC"/>
              </a:rPr>
              <a:t>ISO 10218 / ANSI R15.06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 主要覆盖工业机器人本体与系统集成；动态稳定腿式 / 双足移动机器人风险仍处于新标准化项目（A3 / IEC TC 184）与解释适用阶段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A3 已识别 humanoid 属于 "dynamically stable industrial mobile robot"；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现有 R15.06 / R15.08 并未完全覆盖这一形态的特定危险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协作机器人（cobots）有 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ISO/TS 15066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 力 / 压等级标准；人形机器人在工业用途的安全框架仍在制定中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A1A1A"/>
                </a:solidFill>
                <a:latin typeface="PingFang SC"/>
              </a:rPr>
              <a:t>责任划分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：自主水平越高，责任越倾向 OEM + 软件商（与传统"集成商承担风险"模型反转）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DC2626"/>
                </a:solidFill>
                <a:latin typeface="PingFang SC"/>
              </a:rPr>
              <a:t>家用 / 医疗几乎完全空白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：1X NEO、Optimus 进家庭的 liability framework 全行业空白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远程操作员合规：1X "Expert Mode" 涉及 GDPR / 美国州法律未澄清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A1A1A"/>
                </a:solidFill>
                <a:latin typeface="PingFang SC"/>
              </a:rPr>
              <a:t>PE 行动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：工业部署现实是"caged-cell" 仍是路径最短选择 — cobots 和 AMR 在工业场景压制人形的法律基础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42646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3.5 · RaaS 资产负债表 · Figure $39B 隐含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91640"/>
            <a:ext cx="5760720" cy="4663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691640"/>
            <a:ext cx="54864" cy="46634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RaaS 模式真实经济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0312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Agility 公开：$30/hr ($10-12/hr opex)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Figure RaaS 3 种 inferred（未官方披露）：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  (a) $1,000/月 = $12K/年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  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(b) $25/h × 8h × 250d = $50K/年 [本报告 base]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  (c) 2030 量产 blended $25K/台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Digit 单台 $250K capex → naive payback ~8 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840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PingFang SC"/>
              </a:rPr>
              <a:t>Figure $39B 估值隐含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11480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本报告 base case ($50K/年 单班 hourly):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  · 2030 出货 5 万 × $50K = $2.5B 年收入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  · $39.5B / $2.5B = 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15.8× 2030 收入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  · 但 2025 营收估 $15-30M [INFERRED]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  · 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2025 PSR 仍 ~790×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5 万台部署需 capex ~$5-7B：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  </a:t>
            </a:r>
            <a:r>
              <a:rPr sz="900" b="0" i="0">
                <a:solidFill>
                  <a:srgbClr val="DC2626"/>
                </a:solidFill>
                <a:latin typeface="PingFang SC"/>
              </a:rPr>
              <a:t>capex-light 资产负债表假设未公开确认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3.6 投资结论变更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15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投资结论与决策映射表 · 10 处修订全景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DD 修订 → 估值锚下移 → 投资动作调整 · 7/10 指向美系下行风险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71600"/>
          <a:ext cx="11247117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474719"/>
                <a:gridCol w="2560319"/>
                <a:gridCol w="2926079"/>
              </a:tblGrid>
              <a:tr h="407323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原结论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新证据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修订后结论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对投资动作影响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407323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RaaS 5 年现金流 170×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Figure $25/h×8h×250d ≈ $50K/年；LTV:CAC 仅 2-5×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RaaS 没有数量级优势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美系一线整机 ≤ 5%（vs v1 15-25%）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2030 出货 150-300 万 / TAM $300-800 亿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混淆年度新增 vs 累计；中位 ASP $15K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年度 25-80 万 / 累计 60-150 万 / TAM $30-144 亿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估值锚下移 2-4×</a:t>
                      </a:r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：Figure → $0.87B sanity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07323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仓储是人形最先 PMF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Symbotic $2.25B / Walmart 40% 降本 / Locus &lt; 6 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仓储已被非人形赢得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Agility / Apptronik ≤ 3%；优先 cobot+AMR+ASRS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Tesla 部署 1,000 台 = 量产前奏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Musk Q4 2025: "not in usage"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Tesla 未规模化使用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US-led 15-25% (vs v1 25%)；Bifurcation 40-50%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07323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1X NEO = 真自主家用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CEO 公开 60-70% 自主率；目标 2028 95%+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1X 当前是远程操作员+AI 混合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1X 仓位 ≤ 3%（binary 押 2028 自主率突破）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中移动 1.24 亿 = 全球最大订单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合同实质是 R&amp;D 数据采集服务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降级 Tier D PoC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智元/宇树估值剔除；Tier A+B 真实 ~$1.5B (vs $3B)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07323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补贴超 EV 早期占 GDP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年化 / 年 GDP ≈ 0.08%（vs EV 高峰 0.51%）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量级仅 EV 高峰 15-20%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补贴权重 ≤ 10%；核心论据回归 BOM+场景+数据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金力永磁/中研股份独家供应 Tesla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公司单方披露；Tesla 未公开确认排他性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"披露为供应商，未获 Tesla 确认独家"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上游 PE 估值上限剪 30%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07323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Figure $39B 估值合理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100 万台需 capex $10-13B；未公开 capex-light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隐含未公开假设；sanity check $0.87B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2027 H2 回调 30% 后加至 10-15%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humanoid IRA 概率 40%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单点概率仅基于 ITIF 单篇白皮书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降级 policy watchlist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改为 watchlist（20-50% × Tesla 兑现度）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5989320"/>
            <a:ext cx="11247120" cy="457200"/>
          </a:xfrm>
          <a:prstGeom prst="roundRect">
            <a:avLst>
              <a:gd name="adj" fmla="val 2000"/>
            </a:avLst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D4A574"/>
                </a:solidFill>
                <a:latin typeface="PingFang SC"/>
              </a:rPr>
              <a:t>变更元 takeaway</a:t>
            </a:r>
            <a:r>
              <a:rPr sz="850" b="0" i="0">
                <a:solidFill>
                  <a:srgbClr val="FFFFFF"/>
                </a:solidFill>
                <a:latin typeface="PingFang SC"/>
              </a:rPr>
              <a:t>  ·  10 处修订中 </a:t>
            </a:r>
            <a:r>
              <a:rPr sz="850" b="1" i="0">
                <a:solidFill>
                  <a:srgbClr val="FFFFFF"/>
                </a:solidFill>
                <a:latin typeface="PingFang SC"/>
              </a:rPr>
              <a:t>7/10 指向美系估值下行风险</a:t>
            </a:r>
            <a:r>
              <a:rPr sz="850" b="0" i="0">
                <a:solidFill>
                  <a:srgbClr val="FFFFFF"/>
                </a:solidFill>
                <a:latin typeface="PingFang SC"/>
              </a:rPr>
              <a:t> · 中系修订相对中性但板块估值锚整体下移 2-4× · 无一处修订让原结论"更乐观"——印证 v1 偏 narrative-driven 而非 DD-driven · 核心架构（5 层产业链 / 技术拐点 / 6 玩家路径）仍立得住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926080"/>
            <a:ext cx="548640" cy="731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CHAPTER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ingFang SC"/>
              </a:rPr>
              <a:t>6 种玩家路径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PingFang SC"/>
              </a:rPr>
              <a:t>不是"中 vs 美"二分 · 是 6 种本质不同的打法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PingFang SC"/>
              </a:rPr>
              <a:t>16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PingFang SC"/>
              </a:rPr>
              <a:t>STRICTLY PRIVATE &amp;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4.1-4.6 六种打法对比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17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6 种玩家路径分化 · 核心 moat / 失败概率 / PE 视角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PE 应押"路径组合"而非单一公司 · 仅路径 ⑤（中国硬件派）当前已盈利验证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76072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63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563EB"/>
                </a:solidFill>
                <a:latin typeface="PingFang S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Tesla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3736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垂直整合 + 工厂数据飞轮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4813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PingFang SC"/>
              </a:rPr>
              <a:t>失败概率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6420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PingFang SC"/>
              </a:rPr>
              <a:t>40-50%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8483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Musk Q4 2025: "not in usage" · 2026.7-8 Fremont V3 100 万/年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788920"/>
            <a:ext cx="576072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78892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803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563EB"/>
                </a:solidFill>
                <a:latin typeface="PingFang SC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8803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Figure / Apptronik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154679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VLA + B 端 RaaS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8986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PingFang SC"/>
              </a:rPr>
              <a:t>失败概率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PingFang SC"/>
              </a:rPr>
              <a:t>30-40%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0215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Figure $39.5B / Apptronik $5B · BMW 11 月 PoC / BotQ 爬产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576072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06240"/>
            <a:ext cx="73152" cy="1325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297679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C3AED"/>
                </a:solidFill>
                <a:latin typeface="PingFang S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29767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1X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57200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消费级 + 远程操作员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31596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PingFang SC"/>
              </a:rPr>
              <a:t>失败概率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4988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7C3AED"/>
                </a:solidFill>
                <a:latin typeface="PingFang SC"/>
              </a:rPr>
              <a:t>50-60%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91947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$10B+ 在谈 · NEO 60-70% 自主率 · 押 2028 95%+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1371600"/>
            <a:ext cx="576072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80" y="1371600"/>
            <a:ext cx="73152" cy="1325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1463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C3AED"/>
                </a:solidFill>
                <a:latin typeface="PingFang SC"/>
              </a:rPr>
              <a:t>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14630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PI / Skild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173736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纯模型层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69880" y="14813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PingFang SC"/>
              </a:rPr>
              <a:t>失败概率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66420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7C3AED"/>
                </a:solidFill>
                <a:latin typeface="PingFang SC"/>
              </a:rPr>
              <a:t>40-50%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208483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PI $11B / Skild $14B 在谈 · 押 brain 通用化跨形态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55080" y="2788920"/>
            <a:ext cx="576072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55080" y="2788920"/>
            <a:ext cx="73152" cy="13258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28803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2626"/>
                </a:solidFill>
                <a:latin typeface="PingFang SC"/>
              </a:rPr>
              <a:t>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28803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中国硬件派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3154679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极致 BOM + 走量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28986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PingFang SC"/>
              </a:rPr>
              <a:t>失败概率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308152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16A34A"/>
                </a:solidFill>
                <a:latin typeface="PingFang SC"/>
              </a:rPr>
              <a:t>15-25%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350215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A1A1A"/>
                </a:solidFill>
                <a:latin typeface="PingFang SC"/>
              </a:rPr>
              <a:t>宇树 ¥17 亿营收 / 扣非 ¥6 亿 / 毛利 60%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 · 唯一盈利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4206240"/>
            <a:ext cx="5760720" cy="1325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55080" y="4206240"/>
            <a:ext cx="73152" cy="13258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7960" y="4297679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2626"/>
                </a:solidFill>
                <a:latin typeface="PingFang SC"/>
              </a:rPr>
              <a:t>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429767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740"/>
                </a:solidFill>
                <a:latin typeface="PingFang SC"/>
              </a:rPr>
              <a:t>中国场景派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457200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国资 + 政府订单 + 仿真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69880" y="431596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PingFang SC"/>
              </a:rPr>
              <a:t>失败概率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69880" y="44988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16A34A"/>
                </a:solidFill>
                <a:latin typeface="PingFang SC"/>
              </a:rPr>
              <a:t>25-35%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491947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智元 ¥200亿+/银河 ¥225亿/星海图 ¥200亿/星动 ¥100亿+</a:t>
            </a:r>
          </a:p>
        </p:txBody>
      </p:sp>
      <p:graphicFrame>
        <p:nvGraphicFramePr>
          <p:cNvPr id="57" name="Chart 56"/>
          <p:cNvGraphicFramePr>
            <a:graphicFrameLocks noGrp="1"/>
          </p:cNvGraphicFramePr>
          <p:nvPr/>
        </p:nvGraphicFramePr>
        <p:xfrm>
          <a:off x="457200" y="5669280"/>
          <a:ext cx="7315200" cy="914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8" name="Rounded Rectangle 57"/>
          <p:cNvSpPr/>
          <p:nvPr/>
        </p:nvSpPr>
        <p:spPr>
          <a:xfrm>
            <a:off x="8046720" y="5669280"/>
            <a:ext cx="4114800" cy="914400"/>
          </a:xfrm>
          <a:prstGeom prst="roundRect">
            <a:avLst>
              <a:gd name="adj" fmla="val 2000"/>
            </a:avLst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573328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核心 takeaway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5989320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PingFang SC"/>
              </a:rPr>
              <a:t>美系 4 路径 5 家估值合计 ~$79.5B / 2025 营收 ~$105M = </a:t>
            </a:r>
            <a:r>
              <a:rPr sz="850" b="1" i="0">
                <a:solidFill>
                  <a:srgbClr val="FFFFFF"/>
                </a:solidFill>
                <a:latin typeface="PingFang SC"/>
              </a:rPr>
              <a:t>PSR 757× 加权</a:t>
            </a:r>
            <a:r>
              <a:rPr sz="850" b="0" i="0">
                <a:solidFill>
                  <a:srgbClr val="FFFFFF"/>
                </a:solidFill>
                <a:latin typeface="PingFang SC"/>
              </a:rPr>
              <a:t> · ①②③④⑥ 总暴露 $90-100B </a:t>
            </a:r>
            <a:r>
              <a:rPr sz="850" b="1" i="0">
                <a:solidFill>
                  <a:srgbClr val="FFFFFF"/>
                </a:solidFill>
                <a:latin typeface="PingFang SC"/>
              </a:rPr>
              <a:t>全部依赖 Scaling Law 2027-28 兑现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926080"/>
            <a:ext cx="548640" cy="731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ingFang SC"/>
              </a:rPr>
              <a:t>产业链与硬件（补充）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PingFang SC"/>
              </a:rPr>
              <a:t>BOM · 国产化率 · 玩家 · 市场规模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PingFang SC"/>
              </a:rPr>
              <a:t>18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PingFang SC"/>
              </a:rPr>
              <a:t>STRICTLY PRIVATE &amp;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5.0-5.2 BOM + 国产化率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19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单台 BOM 拆解 + 上游硬件国产化率三梯队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中美 BOM 剪刀差 2.8× · 关键卡点：行星滚柱丝杠（仅 19-22%）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5.0 · 单台 BOM 拆解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691640"/>
          <a:ext cx="576071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22960"/>
                <a:gridCol w="1005840"/>
                <a:gridCol w="822960"/>
                <a:gridCol w="1097279"/>
              </a:tblGrid>
              <a:tr h="332509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子系统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中 %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中金额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美 %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美金额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执行器总成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40-55%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$14-19K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50-60%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$60-80K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├ 谐波减速器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8-12%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$3-4K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5-8%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$6-10K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├ 行星滚柱丝杠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8-15%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$3-5K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10-15%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$12-18K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├ 无框力矩电机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5-8%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$2-3K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6-10%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$8-12K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灵巧手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15-32%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$5-11K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$9.5K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传感器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8-15%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$3-5K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8-12%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$10-15K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AI 芯片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5-8%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$2-3K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5-8%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$5-10K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电池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3-6%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$1-2K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3-5%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$4-6K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2509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结构 / 装配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8-12%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$3-4K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12-18%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$15-25K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51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1" i="0">
                          <a:solidFill>
                            <a:srgbClr val="1A1A1A"/>
                          </a:solidFill>
                          <a:latin typeface="PingFang SC"/>
                        </a:rPr>
                        <a:t>合计 BOM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100%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1" i="0">
                          <a:solidFill>
                            <a:srgbClr val="1A1A1A"/>
                          </a:solidFill>
                          <a:latin typeface="PingFang SC"/>
                        </a:rPr>
                        <a:t>$32-46K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100%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1" i="0">
                          <a:solidFill>
                            <a:srgbClr val="1A1A1A"/>
                          </a:solidFill>
                          <a:latin typeface="PingFang SC"/>
                        </a:rPr>
                        <a:t>$90-150K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5486400"/>
            <a:ext cx="5760720" cy="868680"/>
          </a:xfrm>
          <a:prstGeom prst="roundRect">
            <a:avLst>
              <a:gd name="adj" fmla="val 2000"/>
            </a:avLst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5321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4A574"/>
                </a:solidFill>
                <a:latin typeface="PingFang SC"/>
              </a:rPr>
              <a:t>中美 BOM 剪刀差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PingFang SC"/>
              </a:rPr>
              <a:t>{bold}2.8×{/bold}</a:t>
            </a:r>
            <a:r>
              <a:rPr sz="1100" b="0" i="0">
                <a:solidFill>
                  <a:srgbClr val="FFFFFF"/>
                </a:solidFill>
                <a:latin typeface="PingFang SC"/>
              </a:rPr>
              <a:t>  ·  $32-46K（中）vs $90-150K（美，Morgan Stanley Humanoid 100）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42646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5.2 · 国产化率三梯队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0" y="1691640"/>
          <a:ext cx="57607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5.4 下游 · Top 10 三视图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20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下游整机 · 估值 / 出货 / 订单 Top 10 三视图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中系出货榜前六全部包揽 · 美系估值远高于中系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65760" y="1371600"/>
          <a:ext cx="402336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480560" y="1371600"/>
          <a:ext cx="365760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229600" y="1371600"/>
          <a:ext cx="3840480" cy="5029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6400800"/>
            <a:ext cx="11247120" cy="274320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PingFang SC"/>
              </a:rPr>
              <a:t>* Tesla 自厂 95% 部署但 Musk 承认 "not in usage" · 宇树/智元含机器狗+工业版 · 中移动 1.24 亿是数据采集 R&amp;D 合同（Tier D）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5.5-5.6 市场规模 + 渗透率 + 投资项目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21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市场规模预测 · 渗透率曲线 vs EV · 2024-2026 投资项目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本报告自算 TAM 中位 $75 亿 (50 万 × $15K) · 比 EV 早期更陡的渗透曲线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371600"/>
          <a:ext cx="58521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92240" y="1371600"/>
          <a:ext cx="566928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80974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5.6 · 2024-2026 全球投资项目 Top 10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5074920"/>
          <a:ext cx="11247117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"/>
                <a:gridCol w="1562099"/>
                <a:gridCol w="5727699"/>
                <a:gridCol w="2082800"/>
                <a:gridCol w="1562099"/>
              </a:tblGrid>
              <a:tr h="128847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#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公司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项目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金额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PingFang SC"/>
                        </a:rPr>
                        <a:t>投产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128847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智元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上海临港数据工厂 4,000㎡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~¥3 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2025.1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8847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宇树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杭州总部+研发基地 IPO 募投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PingFang SC"/>
                        </a:rPr>
                        <a:t>¥42 亿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2027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28847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Tesla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Fremont Optimus V3 量产线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PingFang SC"/>
                        </a:rPr>
                        <a:t>2026.7-8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8847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Apptronik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Austin 扩建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PingFang SC"/>
                        </a:rPr>
                        <a:t>$520M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2026.H2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28847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Hayward NEO 工厂（垂直一体化）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2026.5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8847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银河通用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北京亦庄 + Galbot S1 产线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¥25 亿（大基金）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2026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28847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Figure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BotQ Austin 工厂 1.2 万台/年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已投产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8847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宁德×智元×千寻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中州基地电池厂+人形产线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已投产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28847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优必选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柳州工业人形机器人工厂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2026 Q1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885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10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NEOM × 沙特 PIF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一期 10 万台部署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00" b="0" i="0">
                          <a:solidFill>
                            <a:srgbClr val="1A1A1A"/>
                          </a:solidFill>
                          <a:latin typeface="PingFang SC"/>
                        </a:rPr>
                        <a:t>2025-2027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926080"/>
            <a:ext cx="548640" cy="731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CHAPTER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ingFang SC"/>
              </a:rPr>
              <a:t>中美格局与政策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PingFang SC"/>
              </a:rPr>
              <a:t>16 环节能力 · 三情景 · 政策 · 估值方法论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PingFang SC"/>
              </a:rPr>
              <a:t>22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PingFang SC"/>
              </a:rPr>
              <a:t>STRICTLY PRIVATE &amp; 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6.1-6.2 中美能力 + 不可能三角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23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中美 16 环节能力对比 + 双维度不可能三角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美强软件、中强硬件；任何路线都只能优化"安全/技术/经济"或"数据/泛化/成本"中的两个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280160"/>
          <a:ext cx="640080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6.2 · 双维度不可能三角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691640"/>
            <a:ext cx="521208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783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维度 A · PE 视角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057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国家安全 × 技术领先 × 经济效益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377440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▸ 美国偏好：</a:t>
            </a:r>
            <a:r>
              <a:rPr sz="900" b="0" i="0">
                <a:solidFill>
                  <a:srgbClr val="0F2740"/>
                </a:solidFill>
                <a:latin typeface="PingFang SC"/>
              </a:rPr>
              <a:t>安全 + 技术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（出口管制 + 资本人才）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▸ 中国偏好：</a:t>
            </a:r>
            <a:r>
              <a:rPr sz="900" b="0" i="0">
                <a:solidFill>
                  <a:srgbClr val="DC2626"/>
                </a:solidFill>
                <a:latin typeface="PingFang SC"/>
              </a:rPr>
              <a:t>安全 + 经济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（自主可控 + 成本敏感）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▸ 欧洲偏好：经济 + 部分技术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900" b="0" i="1">
                <a:solidFill>
                  <a:srgbClr val="1A1A1A"/>
                </a:solidFill>
                <a:latin typeface="PingFang SC"/>
              </a:rPr>
              <a:t>类比电池产业链"国家安全 × 环境保护 × 经济效益"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4069080"/>
            <a:ext cx="521208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41605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PingFang SC"/>
              </a:rPr>
              <a:t>维度 B · 技术视角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4348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PingFang SC"/>
              </a:rPr>
              <a:t>数据规模 × 泛化能力 × 商业化成本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475488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▸ Tesla / Figure：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海量真机数据 + 高泛化 → 高成本（$130K）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▸ 银河通用：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全仿真合成 + 中等泛化 → 低成本（$30K）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▸ 宇树 / 众擎：</a:t>
            </a:r>
            <a:r>
              <a:rPr sz="900" b="1" i="0">
                <a:solidFill>
                  <a:srgbClr val="1A1A1A"/>
                </a:solidFill>
                <a:latin typeface="PingFang SC"/>
              </a:rPr>
              <a:t>低成本 + 低泛化（专用场景）→ 走量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900" b="0" i="1">
                <a:solidFill>
                  <a:srgbClr val="1A1A1A"/>
                </a:solidFill>
                <a:latin typeface="PingFang SC"/>
              </a:rPr>
              <a:t>任何路线只能优化两个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6.3-6.4 三情景 + 政策 + 补贴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24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三种情景详细对照 + 政策环境 + 中国补贴省级分布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47117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59"/>
                <a:gridCol w="3108959"/>
                <a:gridCol w="3017519"/>
              </a:tblGrid>
              <a:tr h="326571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维度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China-led (35%)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US-led (15-25%)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Bifurcation (40-50% 基准)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326571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触发条件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中国 2027 ramp + 美无 IRA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Tesla 100 万兑现 + IRA 推出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双方推动本土化但未脱钩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2030 累计保有量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 100万 / 美 12万 / 其他 8万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 30万 / 美 80万 / 其他 10万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中 60万 / 美 25万 / 其他 5万 = 90万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26571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2030 ASP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$10K (中) / $35K (美)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$20K（双方收敛）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$12K (中) / $40K (美)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主要受益方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中系全链 + 海外硬件依赖中国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美系一线 + FTA + NVIDIA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各国"双轨" + NVIDIA+CATL+稀土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26571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最大风险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中国本土洗牌过度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中国失出口 + 算力管制深化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全球效率损失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PE 行动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重押中系 + 海外硬件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押美系 + FTA + NVIDIA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双线对冲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3803903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6.4 · 政策环境对照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69080"/>
            <a:ext cx="5486400" cy="2377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069080"/>
            <a:ext cx="54864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PingFang SC"/>
              </a:rPr>
              <a:t>🇺🇸 美国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70832"/>
            <a:ext cx="5303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2025.1 Trump EO 14179 取代 Biden 14110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2025.5 撤销 AI Diffusion Rule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2025.12 H200 case-by-case + 25% 关税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B200/GB300 维持 presumption of denial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2025.9 CA SB 53 / NY RAISE Act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ITIF 呼吁推 "humanoid IRA"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0" i="1">
                <a:solidFill>
                  <a:srgbClr val="1A1A1A"/>
                </a:solidFill>
                <a:latin typeface="PingFang SC"/>
              </a:rPr>
              <a:t>policy watchlist：20-50% × Optimus 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069080"/>
            <a:ext cx="5577840" cy="2377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4069080"/>
            <a:ext cx="54864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11480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PingFang SC"/>
              </a:rPr>
              <a:t>🇨🇳 中国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370832"/>
            <a:ext cx="5303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工信部 2023.11 人形机器人创新发展指导意见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大基金三期 2026.3 首投具身（银河 ¥25 亿）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北京 / 上海 / 深圳 / 合肥 / 武汉 各 ¥100 亿+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累计承诺 ¥550+ 亿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5 年年化 ¥110 亿/年 ≈ 0.08% GDP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</a:t>
            </a:r>
            <a:r>
              <a:rPr sz="800" b="0" i="0">
                <a:solidFill>
                  <a:srgbClr val="DC2626"/>
                </a:solidFill>
                <a:latin typeface="PingFang SC"/>
              </a:rPr>
              <a:t>仅为 EV 2015 高峰 0.51% GDP 的 15-20%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2025-2027 三年可调用资金 ¥800-1000 亿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6.5 估值方法论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25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估值 sanity check · Figure / 智元 / 宇树 + Comps Quartile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三家合计 $3.88B / TAM 中位 $7.5B = 52% 集中度合理 · 美系真泡沫 / 中系接近 EV IPO 中位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6.5.1 · DCF Sanity check（简化）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691640"/>
          <a:ext cx="5760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335280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参数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Figure 🇺🇸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智元 🇨🇳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宇树 🇨🇳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33528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2030 出货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5 万台（10%）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12 万台（24%）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14 万（含机器狗）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2030 ASP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$25K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¥85K ($12K)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¥60K ($8.5K)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528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2030 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$1.25B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$1.44B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$1.19B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2030 EBIT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13% = $163M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3% = $43M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8% = $95M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528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1" i="0">
                          <a:solidFill>
                            <a:srgbClr val="1A1A1A"/>
                          </a:solidFill>
                          <a:latin typeface="PingFang SC"/>
                        </a:rPr>
                        <a:t>Sanity 估值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1" i="0">
                          <a:solidFill>
                            <a:srgbClr val="1A1A1A"/>
                          </a:solidFill>
                          <a:latin typeface="PingFang SC"/>
                        </a:rPr>
                        <a:t>$0.87B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1" i="0">
                          <a:solidFill>
                            <a:srgbClr val="1A1A1A"/>
                          </a:solidFill>
                          <a:latin typeface="PingFang SC"/>
                        </a:rPr>
                        <a:t>$0.17B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1" i="0">
                          <a:solidFill>
                            <a:srgbClr val="1A1A1A"/>
                          </a:solidFill>
                          <a:latin typeface="PingFang SC"/>
                        </a:rPr>
                        <a:t>$0.46B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33528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当前估值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$39.5B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$2.8B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$5.6B 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DC2626"/>
                          </a:solidFill>
                          <a:latin typeface="PingFang SC"/>
                        </a:rPr>
                        <a:t>市场/sanity 比值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DC2626"/>
                          </a:solidFill>
                          <a:latin typeface="PingFang SC"/>
                        </a:rPr>
                        <a:t>45×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16×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800" b="0" i="0">
                          <a:solidFill>
                            <a:srgbClr val="1A1A1A"/>
                          </a:solidFill>
                          <a:latin typeface="PingFang SC"/>
                        </a:rPr>
                        <a:t>12×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0" y="142646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6.5.2 · Comps EV/Sales 倍数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00800" y="1691640"/>
          <a:ext cx="576072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57200" y="4937760"/>
            <a:ext cx="11247120" cy="1554480"/>
          </a:xfrm>
          <a:prstGeom prst="roundRect">
            <a:avLst>
              <a:gd name="adj" fmla="val 2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估值方法论 4 套 · 关键定位 PSR 重新校准后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①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VC Scorecard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（Seed-A）：团队 30%+市场 25%+产品 15%+客户 15%+竞争 15%；中位 pre-money $50-200M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②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Berkus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（Pre-rev）：5 维度 × 各 $0.5-2M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③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EV/Sales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（B+）：订单 × 倍数；中系 10-20×，美系 30-80×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④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DCF on 2030 命中产能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（C+）：产能 × ASP × 毛利 × 折现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DC2626"/>
                </a:solidFill>
                <a:latin typeface="PingFang SC"/>
              </a:rPr>
              <a:t>关键定位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：Figure 790× 是真泡沫；</a:t>
            </a:r>
            <a:r>
              <a:rPr sz="800" b="0" i="0">
                <a:solidFill>
                  <a:srgbClr val="16A34A"/>
                </a:solidFill>
                <a:latin typeface="PingFang SC"/>
              </a:rPr>
              <a:t>智元 20× / 宇树 23× 接近 EV IPO 中位 22×</a:t>
            </a:r>
            <a:r>
              <a:rPr sz="800" b="0" i="0">
                <a:solidFill>
                  <a:srgbClr val="1A1A1A"/>
                </a:solidFill>
                <a:latin typeface="PingFang SC"/>
              </a:rPr>
              <a:t>，不是泡沫；系统性泡沫只在美系一线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6.6 事件年表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26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2026 Q1-Q2 关键事件年表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中国具身累计融资 ¥373 亿 · YTD 日均 ¥2.5 亿 · 14 起 ≥¥10 亿单笔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490472"/>
            <a:ext cx="1188720" cy="50292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90472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2026.1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4630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商业化 + 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719072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优必选 Walker S2 进入比亚迪/吉利 · 累计订单 ¥14-15 亿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北京经开区《具身智能产业新城》行动计划印发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CES 2026 — Hyundai AI 战略 · Atlas 接入 Gemini Robotics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37744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377440"/>
            <a:ext cx="73152" cy="9601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496312"/>
            <a:ext cx="1188720" cy="502920"/>
          </a:xfrm>
          <a:prstGeom prst="roundRect">
            <a:avLst>
              <a:gd name="adj" fmla="val 1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96312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2026.2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4688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Apptronik $520M 大融资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724912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Apptronik Series A-X $520M（估值 $5B / 累计 $935M）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国内具身月度融资 ¥160+ 亿（月度新高）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1X 公布 NEO 量产路线：$20K 售卖 / $499 月租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8328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83280"/>
            <a:ext cx="73152" cy="9601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3502152"/>
            <a:ext cx="1188720" cy="50292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502152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2026.3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4747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中国最大单月 + 宇树 IPO 受理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3730752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银河通用 ¥25 亿 B+，国家大基金三期首投具身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星动纪元 ¥10 亿 A+（三星 / 中金 / 国新）· 逐际动力 $2 亿 B（京东 / 上汽 / 蔚来）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宇树科创板 IPO 受理（3.20）· 募 ¥42.02 亿 · 预计市值 &gt; ¥400 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389120"/>
            <a:ext cx="73152" cy="9601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4507992"/>
            <a:ext cx="1188720" cy="502920"/>
          </a:xfrm>
          <a:prstGeom prst="roundRect">
            <a:avLst>
              <a:gd name="adj" fmla="val 1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507992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2026.4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44805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Q1 数据 + 标委会 + 1X 工厂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736592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Q1 国内具身融资 ¥200+ 亿（YoY +60%）· 14 起 ≥ ¥10 亿单笔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工信部具身智能标委会正式成立（中国电子学会承担秘书处）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1X Hayward NEO 工厂投产（4.30）· 美国首个垂直一体化人形工厂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9496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73152" cy="9601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" y="5513832"/>
            <a:ext cx="1188720" cy="502920"/>
          </a:xfrm>
          <a:prstGeom prst="roundRect">
            <a:avLst>
              <a:gd name="adj" fmla="val 1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513832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SC"/>
              </a:rPr>
              <a:t>2026.5 当前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4864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里程碑式商业化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5742432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优必选 × 空中客车签 Walker S2 采购合作（工业人形 2026 产能 &gt; 1 万台）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Figure 03 量产爬坡：产线效率 24× 跃升（1 台/天 → 1 台/小时）已下线 350+ 台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• </a:t>
            </a:r>
            <a:r>
              <a:rPr sz="800" b="1" i="0">
                <a:solidFill>
                  <a:srgbClr val="1A1A1A"/>
                </a:solidFill>
                <a:latin typeface="PingFang SC"/>
              </a:rPr>
              <a:t>Tesla Fremont 终止 Model S/X · 7-8 月启动 Optimus V3 量产线（目标 100 万/年）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926080"/>
            <a:ext cx="548640" cy="731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ingFang SC"/>
              </a:rPr>
              <a:t>PE 内部分析工具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PingFang SC"/>
              </a:rPr>
              <a:t>deal-level · 与正文行业研究分开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PingFang SC"/>
              </a:rPr>
              <a:t>27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PingFang SC"/>
              </a:rPr>
              <a:t>STRICTLY PRIVATE &amp; CONFIDENTIAL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A.1-A.2 综合判断 + 优先级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28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综合判断三段论 + PE 投资优先级矩阵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现状 / 2027-2028 验证 / 2030-2050 长期 + ★★★★★ 标的清单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A.1 · 综合判断三段论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91640"/>
            <a:ext cx="112471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73152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PingFang SC"/>
              </a:rPr>
              <a:t>现状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764792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非对称稳态格局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057400"/>
            <a:ext cx="96926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中国主导出货（80-95%）+ BOM 优势（2.8×）；美国主导模型 + 估值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双向卡脖子：美→中 H100/B200+铍铜；中→美 稀土 92%+镁 87%+电池 90%+PEEK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514600"/>
            <a:ext cx="112471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877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PingFang SC"/>
              </a:rPr>
              <a:t>2027-2028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587752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5 个关键变量验证窗口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880360"/>
            <a:ext cx="96926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1) Tesla 100 万/$20K 是否兑现 · 2) 中系 IPO 兑现 · 3) 550 亿是否催生洗牌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4) humanoid IRA 是否推出 · 5) VLA Scaling Law 时刻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37560"/>
            <a:ext cx="112471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3756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107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PingFang SC"/>
              </a:rPr>
              <a:t>2030-2050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3410712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740"/>
                </a:solidFill>
                <a:latin typeface="PingFang SC"/>
              </a:rPr>
              <a:t>世代级机会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703320"/>
            <a:ext cx="96926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全球累计：60-150 万 → 5-8 亿 · 年度 TAM：$30-144 亿 → $5-7 万亿</a:t>
            </a:r>
          </a:p>
          <a:p>
            <a:pPr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蓝领劳动力替代 = EV / 光伏 / AI 同等量级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6110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062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A.2 · PE 投资优先级矩阵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26280"/>
          <a:ext cx="1124711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79"/>
                <a:gridCol w="2194559"/>
                <a:gridCol w="4114800"/>
                <a:gridCol w="2194559"/>
                <a:gridCol w="1645920"/>
              </a:tblGrid>
              <a:tr h="203200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优先级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投资方向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代表标的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估值锚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时间窗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2032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基础原材料卡点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金力永磁/中研股份/中复神鹰/宝武镁业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已上市 PE 30-60×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2026 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★★★★★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中系卡脖子零部件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丝杠(贝斯特)/六维力(蓝点)/灵巧手(因时)/IMU(芯动联科)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未上市 pre-money $50M-$1B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2026 H1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2032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仿真 / 数据基础设施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国内对标 NVIDIA Isaac/数据工厂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早期 + AI 估值溢价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★★★★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中系一线整机 (IPO)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宇树 / 智元 / 银河通用 / 星动纪元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¥100-400 亿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2026 IPO 窗口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2032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美系一线整机 (限观察)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Figure / Apptronik / 1X / Skild / π0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$5-40B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2027 后调整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★★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美系芯片 / 模型生态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NVIDIA / Skild / π0 / Generalist AI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高估值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长期持有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2032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应用场景集成商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车厂自研子 / 物流 RaaS / 医疗康复(傅利叶)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多元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2026-2028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★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全栈大而全（卷死）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二线整机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A.3 组合配置 + 决策树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29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PE 组合配置建议 + 关键决策树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三种基金类型 × 7 维度配置 · 三情景判断路径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A.3 · 组合配置 · 三种基金类型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916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PingFang SC"/>
              </a:rPr>
              <a:t>人民币基金 · 中系重权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1965960"/>
          <a:ext cx="3383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160520" y="16916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563EB"/>
                </a:solidFill>
                <a:latin typeface="PingFang SC"/>
              </a:rPr>
              <a:t>美元基金 · 美系重权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160520" y="1965960"/>
          <a:ext cx="338328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63840" y="16916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D4A574"/>
                </a:solidFill>
                <a:latin typeface="PingFang SC"/>
              </a:rPr>
              <a:t>双货币基金 · 平衡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7863840" y="1965960"/>
          <a:ext cx="338328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44348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6B7280"/>
                </a:solidFill>
                <a:latin typeface="PingFang SC"/>
              </a:rPr>
              <a:t>原材料卡点（橙）· 中系零部件（红）· 中系整机（红）· 美系软件（蓝）· 美系整机（蓝）· 仿真/数据（紫）· 应用层（金）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0974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A.3 · 关键决策树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74920"/>
            <a:ext cx="11247120" cy="329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" cy="32918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2064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  <a:latin typeface="PingFang SC"/>
              </a:rPr>
              <a:t>判断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12064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2740"/>
                </a:solidFill>
                <a:latin typeface="PingFang SC"/>
              </a:rPr>
              <a:t>是否相信 China-led（35%）？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512064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PingFang SC"/>
              </a:rPr>
              <a:t>→ 重押中系全产业链 + 海外硬件依赖中国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440680"/>
            <a:ext cx="11247120" cy="329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440680"/>
            <a:ext cx="54864" cy="32918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4A574"/>
                </a:solidFill>
                <a:latin typeface="PingFang SC"/>
              </a:rPr>
              <a:t>判断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48640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2740"/>
                </a:solidFill>
                <a:latin typeface="PingFang SC"/>
              </a:rPr>
              <a:t>是否相信 Bifurcation 基准（40-50%）？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54864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PingFang SC"/>
              </a:rPr>
              <a:t>→ 双线对冲：中系硬件+原材料 + 美系软件 + NVIDIA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806440"/>
            <a:ext cx="11247120" cy="329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806440"/>
            <a:ext cx="54864" cy="3291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563EB"/>
                </a:solidFill>
                <a:latin typeface="PingFang SC"/>
              </a:rPr>
              <a:t>判断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585216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2740"/>
                </a:solidFill>
                <a:latin typeface="PingFang SC"/>
              </a:rPr>
              <a:t>是否相信 US-led（15-25%）？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58521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PingFang SC"/>
              </a:rPr>
              <a:t>→ 重押 Tesla / Figure / Apptronik / NVIDIA / FTA 国家硬件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172200"/>
            <a:ext cx="11247120" cy="329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6172200"/>
            <a:ext cx="54864" cy="329184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2179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PingFang SC"/>
              </a:rPr>
              <a:t>默认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621792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2740"/>
                </a:solidFill>
                <a:latin typeface="PingFang SC"/>
              </a:rPr>
              <a:t>观望情景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621792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PingFang SC"/>
              </a:rPr>
              <a:t>→ 保持现金 + 少量种子（丝杠/灵巧手/IMU/仿真）· 等 2027-2028 兑现窗口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A.4 投委会必问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30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投委会必问 · Top 5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反方挑战 + 我们答复 · IC 演练版本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447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630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PingFang SC"/>
              </a:rPr>
              <a:t>出货 85% 是教育/数据采集，工业落地 &lt; 5%，是补贴催生的 GDP 数字？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7556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答：① 教育采购量大但单价低；数据采集是 VLA 训练真实需求 ② 工业 PoC 已闭环（比亚迪 2026 计划 20K 台、空客签约）③ BMW-Figure / GXO-Agility 真实 RaaS 收入；但承认中国工业 PoC → 规模化仍需 12-18 月验证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7744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377440"/>
            <a:ext cx="73152" cy="9601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45059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4688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PingFang SC"/>
              </a:rPr>
              <a:t>Tesla 部署 1,000 台 useful work 受质疑，2026 V3 100 万产能不兑现，US-led 概率降到多少？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76148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答：base case Tesla 2030 = 30/200/100 万；如 2026 Q3 &lt; 10K 台/年，US-led 从 25% → 15%，Bifurcation 升至 50%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38328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383280"/>
            <a:ext cx="73152" cy="9601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5643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4747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PingFang SC"/>
              </a:rPr>
              <a:t>LP 大半在美国，投中系标的政治退出风险如何对冲？humanoid IRA + 中概股退市怎么办？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76732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答：① 美元基金聚焦"中国制造但海外销售"零部件 ② QFII/沪深港通 ③ 二级对冲（做空 Figure / 做多中国零部件）④ 跨境 SPV ⑤ humanoid IRA 出台后美系硬件供应商相对受益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38912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389120"/>
            <a:ext cx="73152" cy="9601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4622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Q4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4805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PingFang SC"/>
              </a:rPr>
              <a:t>宇树/智元 IPO 估值 ¥120-400 亿 是合理还是泡沫？vs 蔚来 IPO？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7731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答：宇树 2025 营收 ¥17 亿 + 扣非净利 ¥6 亿 + 毛利 60.27% — 同期蔚来（亏损）没有的；毛利结构类似 Apple 而非蔚来；DCF sanity $0.46B vs IPO $5.6B = 12× 比值；跟投上限 ¥250 亿安全锚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94960"/>
            <a:ext cx="1124712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394960"/>
            <a:ext cx="73152" cy="9601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4681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4A574"/>
                </a:solidFill>
                <a:latin typeface="PingFang SC"/>
              </a:rPr>
              <a:t>Q5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4864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PingFang SC"/>
              </a:rPr>
              <a:t>如果让你只投 3 个标的，押 5 年 IRR &gt; 30%，是哪 3 个？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77900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ingFang SC"/>
              </a:rPr>
              <a:t>答：① 宇树（A 股 IPO 受理 / 毛利 60%）— IRR 5y 35-45%  ② 金力永磁（Tesla 供应商 / 3-5 年窗口 / Tesla 锁定）— IRR 30-40%  ③ 仿真/数据种子轮（国内对标 NVIDIA Isaac / AgiBot World）— IRR 50%+（10× potential）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A.5 IC Memo 智元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31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IC Memo 样本 · 智元机器人 · CONDITIONAL PROCEED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Lead 早期布局，限 Pre-IPO 轮持仓 ≤ 基金规模 3%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943600" cy="502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73152" cy="50292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630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1. Executive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3736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中国 2026 估值最高人形整机厂（约 $2.8B+，IPO 锚 $4-7B）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创始人彭志辉；2025 量产 5,168 台（IDC）；占中国 40% / 全球 30%（Top 1）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Top 3 risks：① 量产爬坡未审计 ② 估值 frothy（但 PSR 20× 接近 EV IPO 中位）③ 软件相对 Helix/π0 优势不明显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346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2. Company / 3. Industry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08960"/>
            <a:ext cx="56692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产品：远征 A2 (¥620K) / A2 青春版 (¥168K) / 灵犀 X1 (¥109K)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投资方：腾讯/上汽/京东/比亚迪/红杉/北京机器人基金/上海国资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Industry：占中国 2025 出货 40%、全球 ~30%，Top 1 by IDC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5. Investment Thesis (5 Pillars)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06240"/>
            <a:ext cx="56692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(a) 创始人技术信誉 + 华为系供应链整合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(b) 国资背书强（北京机器人基金 / 上海国投 / 上汽 / 比亚迪）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(c) 已建立工业 + 通信巡检 + 数据采集 三场景订单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(d) AgiBot World 100 万+ 真机轨迹开源（中国 ImageNet 时刻）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(e) 量产基地落地速度领先国内同行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42646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7. Returns Analysis · 5 年 hold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583680" y="1691640"/>
          <a:ext cx="5577835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79"/>
                <a:gridCol w="1828799"/>
                <a:gridCol w="914399"/>
                <a:gridCol w="640079"/>
                <a:gridCol w="640079"/>
              </a:tblGrid>
              <a:tr h="420624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情景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触发条件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Exit 估值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MOIC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IRR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Bull (China-led 35%)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2027 量产 5 万 + 工业兑现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$35B 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5.0×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Base (Bifurcation 40%)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2027 量产 2 万 + Tesla 部分兑现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$18B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2.6×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21%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Bear (US-led 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2027 量产 &lt; 10K + 美 IRA 出台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$5B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0.7×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DC2626"/>
                          </a:solidFill>
                          <a:latin typeface="PingFang SC"/>
                        </a:rPr>
                        <a:t>-6%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概率加权 (35/40/25)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3.0×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1" i="0">
                          <a:solidFill>
                            <a:srgbClr val="1A1A1A"/>
                          </a:solidFill>
                          <a:latin typeface="PingFang SC"/>
                        </a:rPr>
                        <a:t>~20%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583680" y="39319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8. Risks（排序 + Mitigants）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5577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① 量产 yield — mitigant: 季度 yield report + 第三方审计权 + ratchet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② 估值泡沫 — mitigant: IPO &lt; $5B 触发反稀释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③ 关键人风险（彭志辉）— mitigant: 4 年 vesting + key-man insurance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1A1A1A"/>
                </a:solidFill>
                <a:latin typeface="PingFang SC"/>
              </a:rPr>
              <a:t>▸ ④ 政策反复 — mitigant: 海外 GR + FTA hedging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5943600"/>
            <a:ext cx="5577840" cy="502920"/>
          </a:xfrm>
          <a:prstGeom prst="roundRect">
            <a:avLst>
              <a:gd name="adj" fmla="val 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598932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ingFang SC"/>
              </a:rPr>
              <a:t>9. CONDITIONAL PROCEED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6199632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PingFang SC"/>
              </a:rPr>
              <a:t>跟投 $20-30M · 前提：ratchet + Q4'26 量产数据 + 财务尽调 + 4 年 vesting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0" y="164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7280"/>
                </a:solidFill>
                <a:latin typeface="PingFang SC"/>
              </a:rPr>
              <a:t>B 数据来源 + 置信度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PingFang SC"/>
              </a:rPr>
              <a:t>32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PingFang SC"/>
              </a:rPr>
              <a:t>STRICTLY PRIVATE &amp;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2740"/>
                </a:solidFill>
                <a:latin typeface="PingFang SC"/>
              </a:rPr>
              <a:t>数据来源与引用追溯 · 206 条 + 置信度声明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PingFang SC"/>
              </a:rPr>
              <a:t>Tier 1/2/3 分级 · 数据点 210 / 公司 81 / JSON 见 data/references.json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4572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371600"/>
          <a:ext cx="36576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389120" y="1426464"/>
            <a:ext cx="228600" cy="36576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2740"/>
                </a:solidFill>
                <a:latin typeface="PingFang SC"/>
              </a:rPr>
              <a:t>Tier 1/2/3 说明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691640"/>
            <a:ext cx="7315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A1A1A"/>
                </a:solidFill>
                <a:latin typeface="PingFang SC"/>
              </a:rPr>
              <a:t>Tier 1（一手 / 权威）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：Goldman Sachs · Morgan Stanley · Citi · BofA · McKinsey · Bain · IDC · IFR · USGS · 工信部 · 中国信通院 · GGII · 公司公告 · 招股说明书 · arXiv · BIS 文件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A1A1A"/>
                </a:solidFill>
                <a:latin typeface="PingFang SC"/>
              </a:rPr>
              <a:t>Tier 2（券商 / Bloomberg）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：中信建投 / 东吴 / 华泰 / 招商 / 东方 / 安信 / 国信 / 华宝 / 中泰 / 国金 / 民生 · Bloomberg · Reuters · The Information · 第一财经 · 21 经济网 · 华尔街见闻 · 钛媒体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A1A1A"/>
                </a:solidFill>
                <a:latin typeface="PingFang SC"/>
              </a:rPr>
              <a:t>Tier 3（行业媒体）</a:t>
            </a:r>
            <a:r>
              <a:rPr sz="900" b="0" i="0">
                <a:solidFill>
                  <a:srgbClr val="1A1A1A"/>
                </a:solidFill>
                <a:latin typeface="PingFang SC"/>
              </a:rPr>
              <a:t>：36 氪 · 量子位 · 机器之心 · 智东西 · 艾邦机器人 · 机器人大讲堂 · 知乎专栏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9744"/>
            <a:ext cx="2286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574"/>
                </a:solidFill>
                <a:latin typeface="PingFang SC"/>
              </a:rPr>
              <a:t>数据置信度声明 · 已知 limitations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074920"/>
          <a:ext cx="1124711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59"/>
                <a:gridCol w="1828800"/>
                <a:gridCol w="4846319"/>
              </a:tblGrid>
              <a:tr h="152400"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数据点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报告引用值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置信度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  <a:tc>
                  <a:txBody>
                    <a:bodyPr lIns="54864" rIns="54864" tIns="27432" bIns="27432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PingFang SC"/>
                        </a:rPr>
                        <a:t>备注</a:t>
                      </a:r>
                    </a:p>
                  </a:txBody>
                  <a:tcPr>
                    <a:solidFill>
                      <a:srgbClr val="0F2740"/>
                    </a:solidFill>
                  </a:tcPr>
                </a:tc>
              </a:tr>
              <a:tr h="152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2025 全球出货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1.8 万台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IDC/信通院/GGII 三方交叉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2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中国出货占全球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80-95%（按口径）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EA580C"/>
                          </a:solidFill>
                          <a:latin typeface="PingFang SC"/>
                        </a:rPr>
                        <a:t>Medium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IDC ~95% / GGII ~85%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52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中美 BOM 剪刀差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$46K vs $130K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EA580C"/>
                          </a:solidFill>
                          <a:latin typeface="PingFang SC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MS Humanoid 100；BofA $35K 为压制后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2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Figure $39.5B 估值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已落定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High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Figure 官方 + The Information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52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智元 5,168 出货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EA580C"/>
                          </a:solidFill>
                          <a:latin typeface="PingFang SC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IDC 转引；原报告未公开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2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三情景概率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35/15-25/40-50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DC2626"/>
                          </a:solidFill>
                          <a:latin typeface="PingFang SC"/>
                        </a:rPr>
                        <a:t>Analyst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非市场共识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52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humanoid IRA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Policy watchlist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DC2626"/>
                          </a:solidFill>
                          <a:latin typeface="PingFang SC"/>
                        </a:rPr>
                        <a:t>Watchlist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不给单点概率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2400"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稀土磁材 92%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—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6A34A"/>
                          </a:solidFill>
                          <a:latin typeface="PingFang SC"/>
                        </a:rPr>
                        <a:t>High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 lIns="54864" rIns="54864" tIns="18288" bIns="18288"/>
                    <a:lstStyle/>
                    <a:p>
                      <a:pPr algn="l"/>
                      <a:r>
                        <a:rPr sz="750" b="0" i="0">
                          <a:solidFill>
                            <a:srgbClr val="1A1A1A"/>
                          </a:solidFill>
                          <a:latin typeface="PingFang SC"/>
                        </a:rPr>
                        <a:t>USGS + 中国稀土协会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PingFang SC"/>
              </a:rPr>
              <a:t>本报告对外严格保密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D4A574"/>
                </a:solidFill>
                <a:latin typeface="PingFang SC"/>
              </a:rPr>
              <a:t>仅供 PE 内部决策使用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840480"/>
            <a:ext cx="1828800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PingFang SC"/>
              </a:rPr>
              <a:t>数据截止：2026 年 5 月 · Version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PingFang SC"/>
              </a:rPr>
              <a:t>下次更新：随关键 catalyst 触发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PingFang SC"/>
              </a:rPr>
              <a:t>（Tesla V3 量产 / 中系 IPO / VLA Scaling Law）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D4A574"/>
                </a:solidFill>
                <a:latin typeface="PingFang SC"/>
              </a:rPr>
              <a:t>总产出：6 万中文字 · 35 高密度幻灯片 · 206 引用 · 81 家公司档案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