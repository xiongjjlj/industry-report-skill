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PingFang SC"/>
              </a:rPr>
              <a:t>PRIVATE EQUITY · STRICTLY PRIVATE AND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ingFang SC"/>
              </a:rPr>
              <a:t>全球具身智能产业链格局分析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PingFang SC"/>
              </a:rPr>
              <a:t>人形机器人 与 具身智能 产业 PE 视角研究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PingFang SC"/>
              </a:rPr>
              <a:t>数据截止：2026 年 5 月  |  Version 10  |  机密文档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目录 / 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361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执行摘要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556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当前格局 / 未来推演 / PE 5 个行动决定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039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行业本质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258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4 拐点 + 顶尖人物矩阵 + 5 条核心分歧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5420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技术路线之争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761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VLA vs 世界模型 / 数据 / 形态 / Scaling Law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0449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商业化悬崖 (DD)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644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Autonomy Level / 订单 Tier / 替代方案 / RaaS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5478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6 种玩家路径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767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Tesla / Figure / 1X / PI-Skild / 中硬件派 / 中场景派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06908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050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产业链与硬件（补充）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2702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BOM / 玩家 Top10 / 市场规模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537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中美格局与政策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731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16 环节能力对比 / 不可能三角 / 三情景 / 补贴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07492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0566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附录 · PE 内部工具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2760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IC Memo / Q&amp;A / 决策树 / 投资优先级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" y="5577840"/>
            <a:ext cx="365760" cy="365760"/>
          </a:xfrm>
          <a:prstGeom prst="ellipse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559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附录 · 数据来源 (206 refs)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7790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ingFang SC"/>
              </a:rPr>
              <a:t>Tier 1/2/3 分级 + 置信度声明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CHAPTER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当前格局核心结论 · 未来推演 · PE 5 个最值得做的决定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3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8 个关键数字 · KPI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1.8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2025 全球出货量（台）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YoY +508%（IDC）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9393" y="16459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9393" y="16459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2273" y="18288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80-95%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273" y="25603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中国全球出货占比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28803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(IDC vs GGII 口径区间)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16459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16459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3027" y="18288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2.8×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7" y="25603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中美 BOM 剪刀差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027" y="28803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$46K vs $130K (MS)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0901" y="16459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0901" y="16459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3781" y="18288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$39.5B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3781" y="25603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Figure AI 估值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781" y="28803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(美系 Top1)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7033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033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862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$75 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177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2030E 年度市场 TAM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(中位; 区间 $30-144 亿)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9393" y="37033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79393" y="37033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2273" y="38862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69-113%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2273" y="46177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2025-2030 出货 CAGR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2273" y="49377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(按 1.8万→25-80万)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0147" y="37033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0147" y="37033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3027" y="38862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¥373 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3027" y="46177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中国具身累计融资 (YTD)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3027" y="49377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日均 ¥2.5 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0901" y="3703320"/>
            <a:ext cx="26021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40901" y="3703320"/>
            <a:ext cx="73152" cy="18288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23781" y="3886200"/>
            <a:ext cx="23278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740"/>
                </a:solidFill>
                <a:latin typeface="PingFang SC"/>
              </a:rPr>
              <a:t>¥550+ 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3781" y="4617720"/>
            <a:ext cx="23278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PingFang SC"/>
              </a:rPr>
              <a:t>中国地方政府基金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3781" y="4937760"/>
            <a:ext cx="23278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PingFang SC"/>
              </a:rPr>
              <a:t>累计承诺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当前格局核心结论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PingFang SC"/>
              </a:rPr>
              <a:t>🇨🇳 中国 · 主导硬件 + 出货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全球出货 80-95%（IDC vs GGII 口径）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BOM 优势：中系 $32-46K vs 美系 $130K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全球出货榜前六悉数中国厂商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智元 / 宇树 / 优必选 三家合计 ~70% 中国出货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2025 YTD 累计融资 ¥373 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0" i="1">
                <a:solidFill>
                  <a:srgbClr val="1A1A1A"/>
                </a:solidFill>
                <a:latin typeface="PingFang SC"/>
              </a:rPr>
              <a:t>但：纯人形（剔除机器狗）份额估 70-85%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PingFang SC"/>
              </a:rPr>
              <a:t>🇺🇸 美国 · 主导模型 + 估值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Figure $39.5B / Skild $14B 在谈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Physical Intelligence $11B 在谈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Apptronik $5B / 1X $10B+ 在谈 (2025.9)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美系 4 路径下 5 家估值合计 ~$79.5B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2025 营收估 ~$105M → PSR ~757× 加权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资本市场把软件大脑 vs 硬件本体按 5-10× 估值分层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未来格局推演 · 三种情景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76218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情景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China-led · 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触发条件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中国 2027 ramp + 美无 humanoid IRA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2030 累计保有量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 100 万 / 美 12 万 / 其他 8 万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2030 ASP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：$10K (中) / $35K (美)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PE 行动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：重押中系全链 + 海外硬件依赖中国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情景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US-led · 15-25%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触发条件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Tesla 100 万兑现 + humanoid IRA 立法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2030 累计保有量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 30 万 / 美 80 万 / 其他 10 万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2030 ASP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：$20K (双方收敛)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PE 行动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：押美系 + FTA 国家硬件 + NVIDIA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554480"/>
            <a:ext cx="3576218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574"/>
                </a:solidFill>
                <a:latin typeface="PingFang SC"/>
              </a:rPr>
              <a:t>基准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Bifurcation · 40-50%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触发条件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双方推动本土化但未脱钩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2030 累计保有量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 60 万 / 美 25 万 / 其他 5 万 = </a:t>
            </a:r>
            <a:r>
              <a:rPr sz="1000" b="1" i="0">
                <a:solidFill>
                  <a:srgbClr val="1A1A1A"/>
                </a:solidFill>
                <a:latin typeface="PingFang SC"/>
              </a:rPr>
              <a:t>90 万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2030 ASP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：$12K (中) / $40K (美)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PE 行动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：双线对冲（中硬件 + 美软件 + NVIDIA）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7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12 条关键判断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1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中国硬件 + 美国软件已是稳态格局，未来 5 年难以反转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双轨平行是基准情景（概率 40-50%），BOM 重合度将降至 &lt; 30%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3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2027-2028 是关键验证窗口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（Tesla Optimus 量产 + 中系 IPO + 中国 550 亿补贴见效 + VLA Scaling Law）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4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美系一线估值系统性泡沫，2026 H2 后保持观望，2027-2028 预计回调 50-70%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5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中系核心零部件（绿的、五洲新春、步科、双环）是 Alpha 主战场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6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humanoid IRA 推出窗口 2026 H2-2027 H1（policy watchlist，区间 20-50%）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8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12 条关键判断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7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仿真 / 数据基础设施是双轨格局下的稀缺资产（NVIDIA Isaac 接近独占）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8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中国 550+ 亿补贴年化占 GDP ~0.08%（vs EV 2015 高峰 ~0.51%），量级仅 EV 高峰 15-20%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9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出口管制最大杀伤力在算力（美→中）+ 稀土/镁/PEEK（中→美）双向反制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10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2030 年度新增出货 25-80 万台，累计保有量 60-150 万台，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年度 TAM $30-144 亿（中位 $75 亿）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11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稀土永磁是被低估的战略卡点：占 BOM 仅 0.5% 但中国 92% 全球控制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12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宁德时代 + 智元 + 千寻"中州基地"（2025.12）= 中国"电池厂 + 机器人"协同范式雏形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9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PE 行动 · 5 个最值得做的决定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072579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① 2026 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中系核心零部件 + 原材料卡点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未上市丝杠/灵巧手/六维力/IMU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上游金力永磁/中研股份/中复神鹰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定价锚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2030 命中产能 × PE 15-25×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4099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4099" y="1554480"/>
            <a:ext cx="2072579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699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② 2026 IPO 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699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中系一线整机跟投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699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宇树（2026.3.20 受理）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智元（港股 IPO 中）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银河通用（大基金首投 ¥225 亿）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上限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：¥150-250 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9558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59558" y="1554480"/>
            <a:ext cx="2072579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8158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③ 2027 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8158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美系一线 · 限观察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8158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Figure / Skild / π0 系统性泡沫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当前权重 ≤ 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2027 H2 回调 30% 后加至 10-15%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美系一线 2027 估值回调 50-70%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017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017" y="1554480"/>
            <a:ext cx="2072579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617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④ 2026 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617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仿真 / 数据 / 铍铜种子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617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国内对标 NVIDIA Isaac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对标 AgiBot World 数据工厂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铍铜国产替代候选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早期 + AI 估值溢价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0476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0476" y="1554480"/>
            <a:ext cx="2072579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9076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⑤ 2026 H2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9076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7 个关键监测点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9076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Optimus V3 量产数据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Tesla 100 万兑现度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中国 550 亿补贴落地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 IPO 估值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humanoid IRA 立法征兆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VLA Scaling Law 论文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中美稀土/算力反制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行业本质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为什么是现在 · 4 拐点驱动 · 顶尖人物矩阵 · 5 条核心分歧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10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行业本质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11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4 个拐点驱动 · 为什么是 2024-2026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36443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技术拐点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VLA 范式成熟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2023 RT-2 → 2025 Helix/π0/GR00T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S1 慢推理 + S2 快控制 + flow matching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SOTA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：OpenVLA-OFT @ LIBERO 97.1%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7963" y="1554480"/>
            <a:ext cx="2636443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6563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6563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算力拐点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563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训练成本下降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训 7B VLA ≈ 23K GPU-hour &lt; $100K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Jetson Thor 端侧 2,070 FP4 TFLOPS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仿真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：Genesis 430,000× 实时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554480"/>
            <a:ext cx="2636443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数据拐点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飞轮启动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Open X-Embodiment 100 万+ 轨迹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AgiBot World 100 万+ / 217 任务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1A1A1A"/>
                </a:solidFill>
                <a:latin typeface="PingFang SC"/>
              </a:rPr>
              <a:t>但 Joel Jang 警告：数据稀缺仍是瓶颈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11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611" y="1554480"/>
            <a:ext cx="2636443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211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211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经济拐点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211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劳动力短缺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美制造业 2025 空缺 85 万 → 2030 缺 210 万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中国劳动人口年减 800 万 / 2025 出生 792 万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1A1A1A"/>
                </a:solidFill>
                <a:latin typeface="PingFang SC"/>
              </a:rPr>
              <a:t>但 ROI：美 6.5 年 / 中 12 年——拐点未到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行业本质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12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顶尖人物观点矩阵 · 10 ×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人物 / 机构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拐点已到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工业 PMF 2026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C 端 2030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必须双足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Tesla 会赢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a16z (Casado, Hsu) + Polovets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Sequoia (Grady, Huang)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强同意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Brett Adcock (Figure)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强同意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强同意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强同意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强同意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Eric Jang (1X)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Hausman/Levine (PI)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强同意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王兴兴 (宇树)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王鹤 (银河通用)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V. Vanhoucke (Waymo)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Yann LeCun (AMI Labs)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强不同意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强不同意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Marc Raibert (BD)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不同意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中立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注：非随机抽样；样本不含 Musk/Adam Jonas/Cathie Wood 等 Tesla bulls；纳入后业内分歧大致 5:5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行业本质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13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矩阵的 3 个隐藏共识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76218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共识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Tesla 会赢 · 0 支持票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最显著的"隐而不宣"共识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Adcock 公开说 Figure 比 OpenAI 强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Skild/PI 走 brain 路线绕开特斯拉硬件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中国阵营走低成本供应链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Boston Dynamics 绑定现代汽车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1A1A1A"/>
                </a:solidFill>
                <a:latin typeface="PingFang SC"/>
              </a:rPr>
              <a:t>注：样本不含 Musk/Jonas/Wood；带 bulls 后分歧 5:5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共识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时间表激进 + 全乐观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只有 Brett Adcock 一人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"10 年内每家都有 humanoid"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BMW 已 5 月部署 Figure 02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这是 Figure $39B 估值的双刃剑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任何 demo 真实性争议都直接打击估值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554480"/>
            <a:ext cx="357621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共识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必须双足 · Marc Raibert 反对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唯一公开反对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"让机器人像人不是腿和手，是智能"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Boston Dynamics 创始人偏好轮式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对工业场景：轮式+双臂+灵巧手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可能 95% 替代双足 + 成本低 30-50%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行业本质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14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5 条核心分歧线 · GPT 时刻 + VLA vs 世界模型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PingFang SC"/>
              </a:rPr>
              <a:t>分歧 ① · GPT 时刻到了吗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乐观派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Brett Adcock：前夜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王兴兴：1-2 年到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Levine：Apollo program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悲观派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LeCun：LLM 5 年内 useless（$1B 押 AMI Labs）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Karpathy：ghosts of behavior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Casado (a16z 内部)：估值疯狂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PingFang SC"/>
              </a:rPr>
              <a:t>分歧 ② · VLA vs 世界模型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VLA 派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Physical Intelligence (π0/π0.5)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Figure (Helix 02)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Tesla / Apptronik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世界模型派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1X World Model（Eric Jang）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NVIDIA GEAR (Joel Jang)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LeCun → AMI Labs（$1B）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王兴兴 UnifoLM-WMA-0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行业本质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15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5 条核心分歧线 · 数据 / 形态 / 谁会赢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  <a:latin typeface="PingFang SC"/>
              </a:rPr>
              <a:t>分歧 ③ · 数据来源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真机派（美主流）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Hausman / Levine / Adcock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Open X 100 万+ 轨迹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仿真派（中国押注）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银河通用 10 亿帧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NVIDIA Isaac / Genesis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王鹤："中国弯道超车"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视频派（学术）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Joel Jang / Lerrel Pinto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Ego4D 3,670 小时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PingFang SC"/>
              </a:rPr>
              <a:t>分歧 ④⑤ · 形态 + 谁会赢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必须双足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：Adcock / Bornich / 王兴兴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形态多元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：Marc Raibert / Skild omni-bodied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非人形派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：Symbotic / Locus 已跑通商业化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美国阵营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通用 brain (PI/Skild) vs 垂直整机 (Figure/Apptronik/1X)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a16z 押 Figure/Skild/PI；NVIDIA 全押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中国阵营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王兴兴：硬件不是瓶颈，模型架构才是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王鹤：仿真+合成是中国弯道超车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行业本质 · 引语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16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1828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D4A574"/>
                </a:solidFill>
                <a:latin typeface="PingFang SC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ingFang SC"/>
              </a:rPr>
              <a:t>Within 10 years, every home will have a humanoid.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4A574"/>
                </a:solidFill>
                <a:latin typeface="PingFang SC"/>
              </a:rPr>
              <a:t>— Brett Adcock (Figure CEO), Time Magazine Oct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行业本质 · 引语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17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9 条最具穿透力引语 (剩余)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Sergey Levine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(Dwarkesh 9/2025) — "It's more like the Apollo program than a science experiment."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Yann LeCun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(10/27/2025) — "Large Language Models will become useless within 5 years."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Leo Polovets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(Humba VC, a16z 播客) — "Humanoids are probably one of the most hyped areas where valuations get crazy before any revenue."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王兴兴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(21 经济 8/2025) — "数据关注度有点太高，最大问题在模型；当前 VLA 是傻瓜式架构。"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Marc Raibert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(Digitimes 4/2025) — "工厂先行，家用还要等；让机器像人的不是腿和手，是智能。"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王鹤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(36Kr) — "5-10 年才能什么活儿都干；特别不建议讲具身 AGI。"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Oliver Hsu, a16z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(1/13/2026) — "Real-world deployments still largely confined to demos and pilot programs."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Andrej Karpathy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(YC 6/2025) — "Today's AI is missing hippocampus, amygdala, cerebellum."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Joel Jang, NVIDIA GEAR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(2/6/2026) — "Physical AGI's bottleneck is data scarcity, not hardware."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技术路线之争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真正的胜负所在 · VLA vs 世界模型 · 数据 · 形态 · Scaling Law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18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19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路线 ① · 端到端 VLA vs 显式世界模型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PingFang SC"/>
              </a:rPr>
              <a:t>端到端 VLA 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核心假设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参数 scale + 数据 scale + flow matching 足以解决泛化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代表玩家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Physical Intelligence (π0/π0.5)：Flow-matching + PaliGemma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Figure (Helix 02)：S1 慢推理 + S2 快控制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Tesla：垂直整合自家数据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Apptronik：与 Google DeepMind 合作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PE 投注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Figure $39B / PI $11B / Skild $14B 在谈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PingFang SC"/>
              </a:rPr>
              <a:t>世界模型派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核心假设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必须显式建模物理世界因果，才能 zero-shot 泛化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代表玩家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1X World Model：数据生成飞轮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NVIDIA GEAR (GR00T N1/N1.6)：data pyramid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Yann LeCun → AMI Labs：V-JEPA2 → AMI，$1B 反 LLM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王兴兴 (宇树)：UnifoLM-WMA-0 开源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融资规模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学术声誉强但融资规模相对小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20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路线 ② · 数据来源 · 真机 vs 仿真 vs 视频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11201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路径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代表玩家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核心思想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规模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关键风险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11201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真机数据飞轮 (美主流)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PI / Figure / Hausman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Deploy at scale, gather real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Open X 100 万+ 轨迹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真机数据贵且慢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01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仿真合成 (中国押注)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银河通用 / NVIDIA / Genesis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 亿帧仿真训练 / 0 真机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GraspVLA 10 亿帧 / Genesis 430,000× 实时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Sim-to-Real Gap 是已知未解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1120142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人类视频 (学术派)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Joel Jang / Lerrel Pinto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Internet-scale video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Ego4D 3,670h / V-JEPA2 100 万小时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从视觉到 action 仍需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这是中美技术路线根本分歧 — 美押真机飞轮，中押仿真+合成；2026-2028 会有交叉验证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21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路线 ③ · 必须双足吗 · 形态之争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76218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派别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必须双足派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Adcock / Bornich / 王兴兴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"世界是为人造的"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代表：Figure F.03 / 1X NEO / Optimus / 宇树 G1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BOM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：$30-130K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派别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形态多元派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Marc Raibert (BD)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"让机器人像人不是腿和手，是智能"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Skild AI "omni-bodied"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张巍 (逐际动力) 偏多形态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BOM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：$15-50K（轮式 + 双臂 + 灵巧手）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554480"/>
            <a:ext cx="3576218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派别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非人形派 · 已赢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Symbotic / AutoStore / Locus / UR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用"非人形"已跑通商业化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Locus 17K AMR / 70 亿次拣选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Symbotic Walmart 40% 交付成本下降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AutoStore 99.8% uptime / 1,950 站点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BOM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：$5-50K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Scaling Law 现状 · GPT 时刻到了吗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PingFang SC"/>
              </a:rPr>
              <a:t>当前 SOTA 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LIBERO 4 套件：OpenVLA-OFT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97.1%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（受限基准）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CALVIN：π0 ~75-85%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SimplerEnv：GR00T N1 ~60-70%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真实环境（光照变化、未见物体）：实测约 30-50%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1X NEO 官方承认：60-70% autonomy at launch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Tesla Optimus 工厂：Musk Q4 2025 "not in usage in a material way"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  <a:latin typeface="PingFang SC"/>
              </a:rPr>
              <a:t>Scaling Law 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Russ Tedrake (TRI LBM 8/2025)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"capabilities scale more than linearly with data once threshold crossed"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1700h 真机 + 47,000 仿真 rollout 是当前最大 LBM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真正 GPT 时刻预计 2027-2028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（数据 1 亿+ 轨迹 / 模型 30B+）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0" i="1">
                <a:solidFill>
                  <a:srgbClr val="1A1A1A"/>
                </a:solidFill>
                <a:latin typeface="PingFang SC"/>
              </a:rPr>
              <a:t>Chelsea Finn (PI): scale is necessary, but subordinate to solving the problem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商业化悬崖 (DD)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从 Demo 到 Product 的真实距离 · Autonomy / 订单 Tier / 替代方案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23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24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1828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D4A574"/>
                </a:solidFill>
                <a:latin typeface="PingFang SC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ingFang SC"/>
              </a:rPr>
              <a:t>媒体宣传 "~$3B 人形订单" 中 Tier A 接近 0；行业普遍 Tier D (PoC)；人形相对 AMR/协作臂 ROI 差 5-16×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4A574"/>
                </a:solidFill>
                <a:latin typeface="PingFang SC"/>
              </a:rPr>
              <a:t>— 本章核心结论 · DD 真相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25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真实 Autonomy Level · 部署评分卡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PingFang SC"/>
              </a:rPr>
              <a:t>基于 SAE 改编 L0-L4 分级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公司 / 型号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部署点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Autonomy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运行数据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关键披露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Tesla Optimus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Fremont (R&amp;D) 无客户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L0-L1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零规模化部署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Musk Q4 2025: "not in usage in our factories in a material way"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02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BMW Spartanburg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L3（争议）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1,250h / 90,000+ 钣金 / 30,000+ X3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Adcock: "no teleop"；Scott Walter 等指演示有遥操作征兆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BMW + Munich 分阶段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声称 L3（独立验证 [UNDISCLOSED]）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分阶段铺开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任何未来发现 teleop 都将打击 $39B 估值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1X NEO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消费者 pre-order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L0-L2 混合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CEO 公开：60-70% 自主率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"Expert Mode" 远程操作员；CEO: "running towards a cliff"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Apptronik Apollo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Mercedes / GXO / Jabil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L2 (lab-trained)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仍处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商业 scale 目标 2026 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26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真实 Autonomy Level · 部署评分卡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467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公司 / 型号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部署点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Autonomy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运行数据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关键披露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Agility Digit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GXO / Mercado Libre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L3 in defined ODD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100,000+ 货箱 (2025.11) / 2:1 电池循环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迄今唯一公开商业 RaaS datapoint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智元远征 A2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中国移动数据采集 PoC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L0-L1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data-collection service contract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实质 R&amp;D 数据采集，不是生产部署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宇树 H1/G1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demo / 教育 / 科研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L0-L1 工厂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无 24×7 生产部署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G1 营收占公司 60%（机器狗+教育为主）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BD Atlas (新)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Hyundai / Google DeepMind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L2-L3 in part-sorting ODD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CES 2026 商业揭幕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整年订单已锁定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4676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UBTech Walker 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中国政府/工业站点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L1-L2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11 月交付节奏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政府采购投标基本绑定，但端用大多为非生产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⚠ MTBF / MTBI 数字全行业缺失 · 任何省略 MTBF 的 PE pitch deck 应视为尽调不完整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27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订单质量 · Tier A-E 分级框架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072579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Tier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已收款 + 不可撤销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PO + 付款 + 单台已交付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取消风险 </a:t>
            </a:r>
            <a:r>
              <a:rPr sz="1000" b="1" i="0">
                <a:solidFill>
                  <a:srgbClr val="1A1A1A"/>
                </a:solidFill>
                <a:latin typeface="PingFang SC"/>
              </a:rPr>
              <a:t>&lt; 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4099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4099" y="1554480"/>
            <a:ext cx="2072579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699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Tier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699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Firm 采购合同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699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单价 + 交付时间表锁定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取消风险 </a:t>
            </a:r>
            <a:r>
              <a:rPr sz="1000" b="1" i="0">
                <a:solidFill>
                  <a:srgbClr val="1A1A1A"/>
                </a:solidFill>
                <a:latin typeface="PingFang SC"/>
              </a:rPr>
              <a:t>5-15%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9558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59558" y="1554480"/>
            <a:ext cx="2072579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8158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Tier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8158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Master 框架 / MSA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8158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单台需独立 PO 下单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取消风险 </a:t>
            </a:r>
            <a:r>
              <a:rPr sz="1000" b="1" i="0">
                <a:solidFill>
                  <a:srgbClr val="1A1A1A"/>
                </a:solidFill>
                <a:latin typeface="PingFang SC"/>
              </a:rPr>
              <a:t>30-60%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017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017" y="1554480"/>
            <a:ext cx="2072579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617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Tier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617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付费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617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无生产承诺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取消风险 </a:t>
            </a:r>
            <a:r>
              <a:rPr sz="1000" b="1" i="0">
                <a:solidFill>
                  <a:srgbClr val="1A1A1A"/>
                </a:solidFill>
                <a:latin typeface="PingFang SC"/>
              </a:rPr>
              <a:t>60-80%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0476" y="1554480"/>
            <a:ext cx="2072579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0476" y="1554480"/>
            <a:ext cx="2072579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9076" y="1783080"/>
            <a:ext cx="16153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Tier 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9076" y="21031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LOI / MoU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9076" y="2743200"/>
            <a:ext cx="16153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无法律约束力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取消风险 </a:t>
            </a:r>
            <a:r>
              <a:rPr sz="1000" b="1" i="0">
                <a:solidFill>
                  <a:srgbClr val="1A1A1A"/>
                </a:solidFill>
                <a:latin typeface="PingFang SC"/>
              </a:rPr>
              <a:t>75-95%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28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Top 10 公开订单 · 重新分级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7337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#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交易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金额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实际 Tier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 caveat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UBTech Walker S 2025 全年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¥11-13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 / C 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政府采购投标授标即绑定；交付进行中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UBTech-广西防城港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¥2.64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Walker S2；2025.12 交付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UBTech-自贡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¥1.59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Walker S2；数据采集中心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宇树 2025 工业订单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¥12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 / C mix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G1 占 60% 营收；多为教育+小批量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智元+宇树-中移动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¥1.24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D (PoC) 含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数据采集 R&amp;D 服务合同，非生产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星动纪元 2025 累计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¥5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B/C/D mix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50% 海外大概率 D-tier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Apptronik × Merc/GXO/Jabil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[UNDISCLOSED]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D (PoC)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商业 scale 目标 2026 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Agility × GXO / Mercado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[UNDISCLOSED] / 100K+ 货箱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B (GXO) + C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迄今最经实测的人形商业 datapoint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Galbot × Baida/CATL/Bosch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"1,000+ 计划"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 /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未公开单价×数量×交付表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× BMW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未披露 / 11 月 PoC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 + C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Fortune 报道 BMW 反驳 Adcock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Tesla 自厂 1,000 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剔除（不是订单）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Musk Q4 2025: "not in usage"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媒体引述 ~$3B 中：真 firm Tier A+B ≈ $1-1.5B；剩余 $1.5-2B 是 C/D/E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29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替代方案 ROI · 仓储战争已被非人形赢得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7467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方案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代表厂商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单台价格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部署规模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已公开回本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 KPI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Locus Robotics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RaaS-only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17,000+ AMR / 70 亿+ 拣选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&lt; 6 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Cube ASRS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AutoStore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$1-5M/system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1,950+ 系统全球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20-26 周安装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99.8% uptime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Goods-to-person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Symbotic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$10M+/系统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Walmart 42 DC / 承诺 400 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20% opex 降 / 200% 吞吐提升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FY2025 营收 $2.25B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协作臂 6 轴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Universal Robots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$11-60K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UR 累计 &gt; 100,000 cobot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 月-2 年（典型 6-12 月）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4676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人形机器人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Figure/Apptronik/Agility/Tesla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$25-130K+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仅几千台（多为 demo）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Agility naive ~8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MTBF/uptime 全行业未披露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McKinsey 2024：人形 payback 5.3 → 2.8 年（仍是 Locus 3-5×） · Marc Raibert (Lex Fridman): wheeled is far more efficient than bipedal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30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安全 / 合规 · 工业部署的法律护城河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ISO 10218 / ANSI R15.06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主要覆盖工业机器人本体与系统集成；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动态稳定腿式/双足移动机器人风险仍处于新标准化项目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（A3 / IEC TC 184）与解释适用阶段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A3 已识别 humanoid 属于 "dynamically stable industrial mobile robot"，现有 R15.06 / R15.08 并未完全覆盖这一形态的特定危险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协作机器人 (cobots) 有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ISO/TS 15066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力 / 压等级标准；人形机器人在工业用途的安全框架仍在制定中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责任划分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：自主水平越高，责任越倾向 OEM + 软件商（与传统"集成商承担风险"模型反转）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家用 / 医疗几乎完全空白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：1X NEO、Optimus 进家庭的 liability framework 全行业空白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数据隐私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：机器人采集的家庭 / 工厂数据如何合规 unclear；远程操作员（1X NEO "Expert Mode"）涉及 GDPR / 美国州法律待澄清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PE 行动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：工业部署现实是"caged-cell" 仍是路径最短选择 — cobots 和 AMR 在工业场景压制人形的法律基础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31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RaaS 资产负债表 · Figure $39B 隐含假设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  <a:latin typeface="PingFang SC"/>
              </a:rPr>
              <a:t>RaaS 模式真实经济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Agility 公开口径：$30/hr ($10-12/hr opex)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Figure RaaS 定价 (3 种 inferred，未官方披露)：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(a) $1,000/月 = $12K/年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(b) $25/h × 8h × 250d = $50K/年 [本报告 base]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(c) 2030 量产 blended $25K/台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Digit 单台 $250K capex → naive payback ~8 年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RaaS 需要 OEM 前置 capex + 维修 + 残值 + 信用风险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PingFang SC"/>
              </a:rPr>
              <a:t>Figure $39B 估值隐含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本报告 base case ($50K/年 单班 hourly):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2030 出货 5 万 × $50K = $2.5B 年收入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$39.5B / $2.5B =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15.8× 2030 收入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但 2025 营收估 $15-30M [INFERRED]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2025 PSR 仍 ~790×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5 万台部署需 capex ~$5-7B：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capex-light 资产负债表（off-balance-sheet）假设未公开确认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第三章 PE 关键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① 人形机器人当前商业化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远未跑通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— Musk 亲口承认 Optimus "无实质使用"，1X 60-70% 自主率，Figure 与 BMW 关系被 Fortune 质疑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② 媒体宣传 "~$3B 订单" 中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Tier A 几乎为零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；Tier B 集中在中国政府采购（数据采集 / 安防 / 教育，非 ROI 驱动）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③ 仓储战争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已被 Symbotic / Locus / AutoStore 赢得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；人形相对成熟方案 ROI 差 5-16×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④ ISO 10218 / ANSI R15.06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不涵盖双足移动安全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— 工业部署的法律不在人形侧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⑤ Figure $39B 估值依赖 capex-light 资产负债表假设，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但未公开确认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⑥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"任何不含 MTBF 的 PE deck 都不算完整尽调"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— 全行业未披露的关键指标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33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投资结论与决策映射表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原结论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新证据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修订后结论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对投资动作影响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RaaS 5 年现金流是售卖 170×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$25/h×8h×250d ≈ $50K/年；LTV:CAC 仅 2-5×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RaaS 没有数量级优势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美系一线整机权重 ≤ 5%（vs v1 15-25%）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出货 150-300 万台，TAM $300-800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混淆年度新增 vs 累计；中位 ASP $15K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年度新增 25-80 万 / 累计 60-150 万；TAM $30-144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整机估值锚下移 2-4×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：Figure → sanity $0.87B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仓储是人形最先 PMF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Symbotic $2.25B / Walmart 40% 交付成本降；Locus &lt;6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仓储已被非人形赢得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Agility / Apptronik 权重 ≤ 3%；优先 cobot+AMR+ASRS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Tesla 部署 1,000 台 = 量产前奏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Musk Q4 2025: not in usage in our factories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Tesla 未规模化使用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US-led 概率 15-25%（vs v1 25%）；Bifurcation 40-50%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0772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1X NEO = 真自主家用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CEO 公开承认自主率 60-70%；目标 2028 95%+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1X 当前是远程操作员+AI 混合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1X 仓位 ≤ 3%（binary 押 2028 自主率突破）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商业化悬崖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34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投资结论与决策映射表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467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原结论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新证据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修订后结论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对投资动作影响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中移动 1.24 亿 = 全球最大订单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合同实质是 R&amp;D 数据采集服务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降级 Tier D PoC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智元/宇树估值剔除；中系订单 Tier A+B 真实 ~$1.5B (vs $3B 引述)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 550 亿补贴超 EV 早期占 GDP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年化 / 年 GDP ≈ 0.08%（vs EV 2015 高峰 ~0.51%）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补贴量级仅 EV 高峰 15-20%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补贴权重在 China-led 推导中 ≤ 10%；核心论据回归 BOM+场景+数据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金力永磁/中研股份独家供应 Tesla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公司单方披露；Tesla 未公开确认排他性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改"披露为供应商，未获 Tesla 确认独家"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上游 PE 估值上限剪 30%；按非排他重新定价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$39B 估值合理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100 万台需 capex $10-13B；未公开 capex-light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$39B 隐含未公开确认；sanity check $0.87B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美系一线 2027 估值回调 50-70%；当前 ≤ 5%，2027 H2 回调后加至 10-15%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4676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humanoid IRA 推出概率 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单点概率仅基于 ITIF 单篇白皮书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降级 policy watchlist；触发条件而非概率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改为 watchlist（20-50% × Tesla 兑现度）；组合不依赖单一政策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变更元 takeaway：10 处修订 7 处指向美系估值下行风险；中系修订相对中性但板块估值锚下移 2-4×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6 种玩家路径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不是"中 vs 美"二分 · 是 6 种本质上不同的打法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35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36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路径 ① · Tesla · 垂直整合 + 自家工厂数据飞轮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核心假设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：垂直整合 + 自家工厂数据 + 自研芯片（D1）+ 100 万台/年 → $20K 一台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实际进度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：Musk Q4 2025 "not in usage in a material way"，2025 部署 ~1,000 台仅用于 "learn"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关键节点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：Fremont 2026.7-8 启动 V3 量产线，目标 100 万/年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退出路径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：Tesla 内部业务，无独立退出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失败模式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：100 万台再次推迟；BMW/Mercedes 等 OEM 模式抢先到 PMF；自研芯片落后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失败概率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：40-50%（Musk 历史 8 次跨车型 ramp 中 6 次延期 12-24 月）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PE 视角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：直接投资不可能（Tesla 子公司），间接看 Tesla 股价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37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路径 ② · Figure / Apptronik · VLA + B 端 RaaS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核心假设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：纯软件（Helix VLA）+ B 端 RaaS（$1K/月-$25/h）+ 头部车厂 → 估值 5-10× 中系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实际进度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：Figure 11 月 BMW PoC 完成 / BotQ 工厂爬产；Apptronik Mercedes/GXO/Jabil pilot；commercial 目标 2026 H2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关键节点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：Adcock "no teleop in market" 是 binary credibility event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退出路径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：Figure IPO 或被 Tesla / NVIDIA 并购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失败模式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：RaaS 资产负债表压力；竞争对手提前 PMF；teleop 争议爆发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失败概率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：30-40%（estimate 泡沫风险）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PE 估值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：Figure $39.5B / Apptronik $5B (A-X $520M 2026.2)；DCF sanity check $0.87B → 市场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45× sanity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38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路径 ③ · 1X · 消费级 + 远程操作员补丁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核心假设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：双轨——前期靠 teleop 收集真机数据训练 autonomy；2028 真自主率 95%+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实际进度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：NEO 2026.4 投产 Hayward；2026 目标 1 万家用；初始自主率 60-70%（CEO 公开）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关键节点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：2028 是否真到 95% 自主率？否则 "running towards a cliff"（CEO 自己说）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退出路径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：1X IPO 或被巨头并购（OpenAI Fund 是投资人）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失败模式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：teleop 不能 scale 到家用（隐私 / 文化阻力）；竞争对手出真自主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失败概率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：50-60%（最 ambitious 路径）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PE 视角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：估值 $10B+（2025.9 在谈，OpenAI/EqualOcean）；2025 营收 ~$20M / PSR ~500×；高赔率高风险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39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路径 ④ · Physical Intelligence / Skild · 纯模型层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核心假设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：通用大脑模型（π0/π0.5、Skild Brain）+ 跨形态部署 → 软件公司估值（40-100× ARR）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实际进度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：PI π0/π0.5 完成 open-world generalization；Skild $1.4B raise 2026.1，估值 $14B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关键节点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：能否真做到 SOTA + 跨硬件商业化（vs 自研整机厂商绕过它们）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退出路径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：被 NVIDIA / Google / Meta 收购，或独立 IPO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失败模式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：整机厂内化模型层（Tesla、Figure 不会买）；Scaling Law 不来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失败概率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：40-50%（被整机厂内化）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PE 视角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：PI $11B 在谈、Skild $14B 在谈；纯 software multiples，估值最敏感于 hype 周期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40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路径 ⑤ · 中国硬件派 · 极致硬件成本 + 走量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代表玩家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：宇树 / 众擎 / 加速进化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核心假设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：极致 BOM 成本（$5,900 R1 / ¥99K G1）+ 走量（消费+教育+海外 30% 出口）+ 现金流盈利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实际进度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：宇树 2025 出货 5,500 台（全口径含机器狗）/ 营收 ¥17 亿 /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扣非净利 ¥6 亿 / 毛利 60%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— 唯一公开盈利的人形玩家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关键节点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：宇树 A 股 IPO（2026.3.20 受理 / 募 ¥42 亿 / 预计市值 &gt; ¥400 亿）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退出路径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：A 股上市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失败模式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：R1 价格战 → 毛利下行；纯硬件无 software moat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失败概率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：15-25%（已盈利，稳健）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PE 视角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：宇树 IPO 是中国具身板块估值锚，跟投上限 ¥250 亿；类比 Apple 而非蔚来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41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路径 ⑥ · 中国场景派 · 政府订单 + 数据采集 + 仿真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代表玩家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：智元 / 银河通用 / 优必选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核心假设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：国资背书 + 政府订单 + 数据采集合同 + 仿真合成数据（GraspVLA 10 亿帧）→ 中国弯道超车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实际进度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：智元 2025 出货 5,168 台（IDC）/ AgiBot World 100 万+ 开源；银河通用 2026.3 大基金三期 ¥25 亿首投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关键节点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：智元港股 IPO 兑现；银河通用 GraspVLA 真实部署任务完成率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退出路径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：港股 IPO / A 股 IPO / 战略并购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失败模式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：政府订单可持续性（非 ROI 驱动）；仿真 → 真机 gap 不闭合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失败概率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：25-35%（依赖政策窗口）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PE 视角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：智元 ¥200亿+ / 银河通用 ¥225亿 / 星海图 ¥200亿 / 星动纪元 ¥100亿+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6 路径对照 · 核心维度矩阵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路径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核心 moat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真实经济模型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2026-28 关键变量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失败概率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69233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① Tesla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垂直整合 + 自家场景 + 自研芯片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内部使用，无外部 ROI 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2026.7-8 V3 量产 + $20K 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40-50%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② Figure / Apptronik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VLA 软件 + B 端客户绑定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$1K/月 RaaS - 8 年回本 naive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BotQ 爬产 + capex-light 验证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30-40%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9233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③ 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消费品牌 + teleop → 数据飞轮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$20K 硬件 + $499/月 订阅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2028 95% 自主率兑现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50-60%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④ PI / Skild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通用大脑模型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软件 license / API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整机厂买不买 vs 自研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40-50%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9233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⑤ 中国硬件派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BOM 成本 + 走量 + 现金流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毛利 30-60%，现金流为正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R1 海外持续 + IPO 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15-25%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⑥ 中国场景派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国资 + 政府订单 + 仿真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政府采购毛利低，商业溢出未验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仿真→真机闭合 + IPO 兑现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25-35%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玩家路径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43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6 路径 · 核心 takeaway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①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没有一条路径有 &lt; 15% 失败率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— 这是早期产业的本质；PE 应当押"路径组合"而非"单一公司"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②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当前唯一公开经盈利验证的是路径 ⑤（中国硬件派）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— 宇树扣非净利 ¥6 亿；其他 5 条路径都未跑出 ROI 闭环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③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美系 4 路径下 5 家估值合计 ~$79.5B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，但 2025 真实营收合计估 ~$105M — PSR ~757× 加权平均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④ "Tesla 会赢" 这个论点在 10 人样本中无人支持（样本不含 Tesla bulls；带 bulls 后业内分歧 5:5）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⑤ 路径 ① ② ③ ④ ⑥ 一起押的总暴露 = $90-100B，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全部依赖"AI Scaling Law 2027-2028 兑现"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— 如果不到，集体压力测试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产业链与硬件（补充）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非核心章节 · BOM 速览 / 玩家 Top10 / 市场规模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44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45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上游硬件 · 国产化率三梯队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76218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第一梯队 &gt; 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已构成护城河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谐波减速器（绿的 26% / 国产 60-65%）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灵巧手（国产价 = 海外 1/20）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六维力（蓝点 70%）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激光雷达（90%+）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深度相机（70%+）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电池（90%+）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第二梯队 30-50%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加速替代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无框力矩电机（步科国内 54%）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RV 减速器（双环 18%）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AI 端侧芯片（地平线 30-40%）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554480"/>
            <a:ext cx="3576218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第三梯队 &lt; 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卡脖子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行星滚柱丝杠（19-22%）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导航级 IMU（&lt; 30%）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光电编码器（&lt; 30%）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AI 训练芯片（昇腾 910C 全球封杀）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46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单台 BOM 价值量拆解 · 中 vs 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子系统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中国 BOM %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中国金额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美国 BOM %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美国金额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主导供应商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执行器总成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40-55%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$14-19K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50-60%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$60-80K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谐波/丝杠/电机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├ 谐波减速器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8-12%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$3-4K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5-8%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$6-10K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Harmonic Drive / 绿的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├ 行星滚柱丝杠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$3-5K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$12-18K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GSA / Rollvis / 贝斯特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├ 无框力矩电机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5-8%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$2-3K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6-10%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$8-12K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Kollmorgen / 步科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灵巧手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15-32%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$5-11K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$9.5K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Tesla 自研 / 月泉 / 灵心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传感器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8-15%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$3-5K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8-12%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$10-15K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ATI / 蓝点 / 禾赛 / 奥比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AI 芯片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5-8%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$2-3K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5-8%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$5-10K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Thor / 寒武纪 / 地平线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电池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3-6%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$1-2K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3-5%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$4-6K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CATL / 亿纬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结构 / 装配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$3-4K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12-18%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$15-25K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合计 BOM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$32-46K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$90-150K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剪刀差 2.8×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47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中游 AI · VLA 模型对比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模型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团队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时间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架构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开源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代表能力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RT-2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Google DeepMind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VLM + 动作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开山之作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OpenVLA-7B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Stanford+UCB+TRI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2024.6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Llama2 7B + 动作头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开源破局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π0 / π0.5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Physical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2024.10 / 2025.4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Flow-matching + PaliGemma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高频控制 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Helix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AI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S1（慢推理）+ S2（快控制） 双系统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BMW 工厂闭环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GR00T N1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VLA + 仿真训练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部分（N1.5）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训练框架完整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GO-1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 AgiBot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VLA + AgiBot World 数据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 ImageNet 时刻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GraspVLA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银河通用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VLA + 仿真合成 10 亿帧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全仿真 0 真机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SmolVLA 450M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Hugging Face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小模型 + 后训练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小模型反超 ACT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48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下游 · 全球估值 Top 10 (2026.05)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#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公司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国家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最新估值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最近一轮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状态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$39.5B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Series C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Skild AI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$14B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Series B+ 在谈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Physical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$11B 在谈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 在谈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1X Technologies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挪/美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$10B+ 在谈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Apptronik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A-X 2026.2 ($520M)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Neura Robotics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德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€4B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Series C 2025.7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银河通用 Galbot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¥225 亿 ($3B+)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B+ 2026.3 大基金首投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 AgiBot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¥200 亿+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Pre-IPO 2025-26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星海图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¥200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宇树科技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¥120 亿 → IPO ~¥400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2026.3.20 受理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49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下游 · 出货 Top 10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排名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厂商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国家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2025 出货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关键产品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 AgiBot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5,168 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远征 A2 / 灵犀 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宇树科技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5,500+ 台 (全口径)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G1 / H1 / R1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优必选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~1,500 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Walker S1/S2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众擎 EngineAI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~1,200 台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PM01 / SA01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加速进化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~800 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傅利叶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~700 台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GR-1 / GR-2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Agility Robotics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~500 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Digit V6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1X Technologies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挪/美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~300 台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NEO Gamma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Apptronik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~300 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Apollo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AI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~150 台 (Tech360 2026.1)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02/03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宇树 5,500 / 智元 5,168 含机器狗+工业版；纯人形中国份额估 70-85%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50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市场规模 · 投行预测对比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978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机构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报告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2030 市场规模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关键判断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978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Goldman Sachs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Humanoid Robot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2035 $380 亿 / &gt; 25 万台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Morgan Stanley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$5T by 2050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$150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2050 美国 $3 万亿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78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Citi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Rise of AI Robots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2050 6.5 亿台 / $7 万亿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BofA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Humanoid Robots 101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$300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 BOM $35K / 100 万台/年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78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McKinsey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Crossing the Chasm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通用机器人 2040 $3,700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MarketsandMarkets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2025-2030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$152.6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CAGR 39.2%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783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BCC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$110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CAGR 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7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本报告自算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50 万 × $15K (中位)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$30-144 亿 / 中位 $75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出货 CAGR 69-113%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投行预测口径不一致；本报告 TAM 按出货 × ASP 自洽推导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51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渗透率曲线 · 人形 vs EV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6006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年份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人形累计保有量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渗透蓝领%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类比 EV 时点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~0.3 万台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0.0001%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EV 2010（Nissan Leaf）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~2.3 万台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0.001%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EV 2012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2027E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25-30 万累计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EV 2015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2030E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60-150 万累计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0.04-0.1%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EV 2018（渗透 2%）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2035E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1,500-3,000 万累计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EV 2023（渗透 18%）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2040E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8,000 万-1.5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4-8%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EV 2030（渗透 50%+）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60076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2050E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5-8 亿台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25-40%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EV 2050（渗透 90%）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关键差异：人形 TAM 比 EV 大 5-10×（替代劳动力 vs 替代车辆）；渗透曲线更陡（替代持续人工成本）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2024-2026 全球投资项目清单 ·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#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公司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项目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时间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金额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投产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上海临港 4,000㎡ 数据工厂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~¥3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宇树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杭州总部 + 研发基地 (IPO 募投)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¥42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优必选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柳州工业人形机器人工厂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Tesla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Fremont Optimus V3 量产线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2026.5 启动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2026.7-8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BotQ Austin 工厂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一线 1.2 万台/年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Apptronik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Austin 扩建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$520M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2026.H2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Hayward NEO 工厂（垂直一体化）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2026.4.30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2026.5 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银河通用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北京亦庄 + Galbot S1 产线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¥25 亿（大基金三期）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宁德×智元×千寻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中州基地"电池厂+人形"产线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已投产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NEOM × 沙特 PIF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一期 10 万台部署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2024-2025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2025-2027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产业链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53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基础原材料 · 一张表速览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6006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原材料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单台用量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单台成本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占 BOM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中国地位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钕铁硼磁材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1,800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磁材 92%+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铜（绕组+线缆）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8.2 kg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600 元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精炼 45%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镁/铝/钢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26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650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原镁 87% / 电解铝 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PEEK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7 kg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700 元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中研 30.6% / 全球第 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碳纤维 T800+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4,000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中复神鹰 全球第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6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铍铜（卡脖子）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0.08 kg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50 元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0.02%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美 Materion 70% 主导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60076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~7,800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~2.5%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注：上游材料目前不是瓶颈，PE 报告处理为"主题观察项"而非核心配置项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中美格局与政策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16 环节能力对比 · 不可能三角 · 三情景 · 政策 · 补贴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54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55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中美产业链 16 环节能力对比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0289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环节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中国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美国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优势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关键差异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端侧 AI 芯片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Thor 仍可对华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训练算力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美绝对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H100/B200 受限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谐波减速器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绿的 ASP 低 30-40%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行星滚柱丝杠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中国国产化 19-22%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灵巧手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中（成本）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国产价 = 海外 1/20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力 / 触觉传感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中略胜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蓝点 70%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稀土永磁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中绝对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92%+ 高性能磁材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PEEK / 碳纤维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中略胜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中研股份 Tesla 供应商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铍铜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美绝对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Materion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VLA 模型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Helix/π0/GR00T 引领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仿真平台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美绝对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NVIDIA Isaac 独占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训练数据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中略胜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AgiBot World 100 万+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整机量产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中绝对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出货 80-95%，BOM 2.8×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客户场景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中略胜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政府/车厂大单密度高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0289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资本市场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$39B vs 智元 $3B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56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双维度 不可能三角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4A574"/>
                </a:solidFill>
                <a:latin typeface="PingFang SC"/>
              </a:rPr>
              <a:t>维度 A · PE 视角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"国家安全 × 技术领先 × 经济效益"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美国偏好：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安全 + 技术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（出口管制 + 资本人才）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中国偏好：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安全 + 经济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（自主可控 + 成本敏感）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欧洲偏好：经济 + 部分技术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类比 Reference 在电池产业链做的"国家安全 × 环境保护 × 经济效益"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PingFang SC"/>
              </a:rPr>
              <a:t>维度 B · 技术视角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"数据规模 × 泛化能力 × 商业化成本"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Tesla / Figure 路径：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海量真机数据 + 高泛化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 → 高成本（$130K）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银河通用路径：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全仿真合成 + 中等泛化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 → 低成本（$30K）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宇树 / 众擎路径：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低成本 + 低泛化（专用场景）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 → 走量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任何路线只能优化两个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57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三种未来情景 · 详细对照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维度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China-led (35%)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US-led (15-25%)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Bifurcation (40-50%, 基准)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6057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触发条件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 2027 ramp + 美无 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Tesla 100 万兑现 + IRA 推出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双方推动本土化但未脱钩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时间表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2026-2030 中国持续主导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2027-2030 美国反超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起逐步分化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057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累计保有量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 100 万 / 美 12 万 / 其他 8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 30 万 / 美 80 万 / 其他 10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中 60 万 / 美 25 万 / 其他 5 万 = 90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ASP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$10K (中) / $35K (美)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$20K（双方收敛）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$12K (中) / $40K (美)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057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主要受益方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中系全链 + 海外硬件依赖中国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美系一线 + FTA 国家硬件 + 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各国"双轨"领导者；NVIDIA+CATL+稀土玩家双赢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最大风险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中国本土洗牌过度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中国失出口市场 + 算力管制深化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全球效率损失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057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PE 行动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重押中系 + 海外硬件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押美系 + FTA + 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双线对冲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58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政策环境 · 中美对照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PingFang SC"/>
              </a:rPr>
              <a:t>🇺🇸 美国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2025.1 Trump EO 14179 取代 Biden 14110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2025.5 撤销 AI Diffusion Rule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2025.12 H200 转 case-by-case + 25% 关税</a:t>
            </a:r>
            <a:r>
              <a:rPr sz="1100" b="0" i="0">
                <a:solidFill>
                  <a:srgbClr val="1A1A1A"/>
                </a:solidFill>
                <a:latin typeface="PingFang SC"/>
              </a:rPr>
              <a:t>（部分放开）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B200/GB300 维持 presumption of denial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2025.9 CA SB 53 签署；NY RAISE Act 在审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ITIF 2025.7 呼吁推 "humanoid IRA"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推出概率（policy watchlist）：20-50% × Optimus 兑现度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406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PingFang SC"/>
              </a:rPr>
              <a:t>🇨🇳 中国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工信部 2023.11 人形机器人创新发展指导意见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2024 工信部具身智能标委会（2026.4 正式成立）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大基金三期 2026.3 首投具身（银河通用 ¥25 亿）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北京/上海/深圳/合肥/武汉 各 ¥100 亿+ 地方基金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累计承诺 ¥550+ 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5 年年化 ¥110 亿/年 ≈ 0.08% GDP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100" b="1" i="0">
                <a:solidFill>
                  <a:srgbClr val="1A1A1A"/>
                </a:solidFill>
                <a:latin typeface="PingFang SC"/>
              </a:rPr>
              <a:t>仅为 EV 2015 高峰 (0.51% GDP) 的 15-20%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59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中国 550 亿+ 补贴 · 省级分布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城市 / 省份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政策 / 基金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时间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规模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中央 · 大基金三期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首投具身智能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银河通用 ¥25 亿领投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北京（市+海淀+亦庄）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机器人产业基金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2024.12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首期 ¥20 亿，总 </a:t>
                      </a:r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¥100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北京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具身智能行动计划 2025-2027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上海（市+临港+张江）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上海具身智能基金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首期 ¥5.6 亿，目标 ¥10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上海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国投先导 AI 母基金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¥225 亿（覆盖部分）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深圳（市+南山+福田+龙岗）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AI 和具身机器人基金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首期 ¥20 亿，目标 </a:t>
                      </a:r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¥100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深圳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三只 AI/机器人基金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¥30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合肥 / 安徽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智能机器人行动计划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2024.9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¥50 亿专项 + </a:t>
                      </a:r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¥100 亿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 未来基金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武汉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加快人形机器人发展政策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¥100 亿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 招商基金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江苏省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战新产业母基金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2024-2025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¥500 亿（覆盖机器人部分）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具身专项合计 ¥550+ 亿（不含 AI 母基金间接出资）；2025-2027 三年可调用资金 ¥800-1000 亿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60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估值方法论 · 4 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36443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① Seed-A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VC Scorecard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团队 30% + 市场 25% + 产品 15%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+ 客户 15% + 竞争 15%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当前行业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中位 pre-money $50-200M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7963" y="1554480"/>
            <a:ext cx="2636443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6563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② Pre-rev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6563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Berkus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563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5 维度 × 各 $0.5-2M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适用于早期 / 种子轮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554480"/>
            <a:ext cx="2636443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③ Series 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EV / Sales 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已订单 × 倍数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当前行业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 10-20×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 30-80×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11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611" y="1554480"/>
            <a:ext cx="2636443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211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④ Series C+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211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DCF on 2030 命中产能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211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年产能 × ASP × 毛利率 × 折现率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锚定 2030 真实兑现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61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估值 sanity check · Figure / 智元 / 宇树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7337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参数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Figure 🇺🇸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智元 🇨🇳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宇树 🇨🇳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出货假设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 万台（10% 全球）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12 万台（24% 全球）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14 万台（含机器狗）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ASP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$25K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¥85K ($12K)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¥60K ($8.5K)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$1.25B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¥104 亿 ($1.44B)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¥84 亿 ($1.19B)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毛利率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2030 EBIT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13% = $163M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3% = $43M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8% = $95M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WACC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Operating value (4y)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$93M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永续期价值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$0.78B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$0.15B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$0.40B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Sanity check 估值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$0.87B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$0.17B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$0.46B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7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当前市场估值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$39.5B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$2.8B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$5.6B IPO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37339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市场 / sanity 比值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45×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三家合计 $3.88B / TAM 中位 $7.5B = 52% 集中度合理 · 这不是完整 DCF（未含 2026-30 逐年现金流、capex、税、稀释）；仅作 sanity check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Comps · 可比公司估值倍数 Quartile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公司 / 板块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样本时点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EV / Sales LTM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Quartile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vs 板块中位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Figure AI 🇺🇸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2025.9 Series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790×</a:t>
                      </a:r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 ($39.5B/$50M)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Q4 极端高位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智元 AgiBot 🇨🇳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 Pre-IPO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20× (¥200亿/¥10亿)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Q3（EV IPO 中位）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宇树 🇨🇳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2026.3 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23× (¥400亿/¥17.08亿)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蔚来（IPO 2018.9）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2018.9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53×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+141%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小鹏（IPO 2020.8）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24×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+9%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ABB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2.8×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-20%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Symbotic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4.5×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+29%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Intuitive Surgical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14×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+300%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07323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2024.10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~50×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+25%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9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Anthropic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2025.3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~40×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Q3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关键定位：Figure 790× 是真泡沫；智元/宇树 20-23× 接近 EV IPO 中位（22×），不是泡沫 · 系统性泡沫只在美系一线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中美格局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63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2026 Q1-Q2 关键事件年表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2026.1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优必选 Walker S2 进入比亚迪/吉利 · 累计订单 ¥14-15 亿 · CES 2026: Hyundai AI 战略 · Atlas 接入 Gemini Robotics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2026.2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Apptronik A-X $520M（估值 $5B / 累计 $935M）· 国内月度融资 ¥160+ 亿（新高）· 1X 公布 NEO 量产路线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2026.3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银河通用 ¥25 亿 B+（大基金三期首投）· 星动纪元 ¥10 亿 A+ · 逐际动力 $2 亿 B ·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宇树科创板 IPO 受理（3.20，募 ¥42.02 亿，预计市值 &gt; ¥400 亿）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2026.4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Q1 国内具身融资 ¥200+ 亿（YoY +60%）· 工信部具身智能标委会正式成立 · 云深处科技完成上市辅导 · 1X 加州 Hayward NEO 工厂投产（4.30）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2026.5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· 优必选 × 空中客车签 Walker S2 采购 · Figure 03 量产爬坡：产线效率 24× 跃升 · Tesla Fremont 终止 Model S/X，7-8 月启动 Optimus V3 量产线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YTD 累计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：国内具身累计融资 ¥373 亿 · YTD 日均 ¥2.5 亿 · 2026.4 单月日均 ¥5.8 亿创新高（主要由银河 ¥25 亿 + 星动 ¥10 亿 + 逐际 $2 亿驱动）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PE 内部分析工具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deal-level 工具 · 与正文行业研究分开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64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65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A.1 · 综合判断三段论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7621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非对称稳态格局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中国主导出货（80-95%）+ 硬件 BOM 优势（2.8×）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美国主导模型 + 估值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双向卡脖子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美→中：H100/B200 + 铍铜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中→美：稀土 92% + 镁 87% + 电池 90% + PEEK 供应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2027-2028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关键验证窗口 · 5 变量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1. Tesla Optimus 100 万/$20K 是否兑现？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2. 中系头部 IPO 兑现 + 单台经济性？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3. 中国 550+ 亿是否催生半导体级洗牌？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4. humanoid IRA 是否推出？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5. VLA Scaling Law 时刻？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554480"/>
            <a:ext cx="3576218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2030-2050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世代级机会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全球累计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：60-150 万（2030）→ 5-8 亿（2050）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年度 TAM</a:t>
            </a:r>
            <a:r>
              <a:rPr sz="1000" b="0" i="0">
                <a:solidFill>
                  <a:srgbClr val="1A1A1A"/>
                </a:solidFill>
                <a:latin typeface="PingFang SC"/>
              </a:rPr>
              <a:t>：$30-144 亿（2030 中位 $75 亿）→ $5-7 万亿（2050）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蓝领劳动力替代 = EV / 光伏 / AI 同等量级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66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A.2 · PE 投资优先级矩阵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优先级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投资方向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代表标的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估值锚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时间窗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基础原材料卡点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金力永磁（Optimus 供应商）、中研股份、中复神鹰、宝武镁业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已上市 PE 30-60×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H1 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中系卡脖子零部件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行星滚柱丝杠、六维力（蓝点）、视触觉（戴盟）、灵巧手、IMU、无框电机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未上市 pre-money $50M-$1B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H1 起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仿真 / 数据基础设施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国内对标 NVIDIA Isaac、数据工厂（智元 4,000㎡）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早期 + AI 估值溢价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中系一线整机（IPO 锚定）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宇树（2026.3.20 受理）、智元、银河通用、星动纪元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¥100-400 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 IPO 窗口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美系一线整机（限观察）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Figure、Apptronik、1X、Skild、π0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$5-40B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2027 后调整窗口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美系芯片 / 模型生态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NVIDIA、Skild、π0、Generalist AI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高估值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长期持有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应用场景集成商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车厂自研子、物流 RaaS、医疗康复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多元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2026-2028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★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全栈大而全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二线整机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67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A.3 · PE 组合配置建议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76218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人民币基金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中系重权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原材料卡点：15%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中系零部件：25%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中系整机：25%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美系软件/模型：5%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美系整机：5%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仿真/数据：15%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应用层：10%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美元基金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美系重权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原材料卡点：5%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中系零部件：10%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中系整机：10%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美系软件/模型：30%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美系整机：25%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仿真/数据：15%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应用层：5%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554480"/>
            <a:ext cx="3576218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574"/>
                </a:solidFill>
                <a:latin typeface="PingFang SC"/>
              </a:rPr>
              <a:t>双货币基金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平衡配置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原材料卡点：10%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中系零部件：20%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中系整机：20%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美系软件/模型：15%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美系整机：15%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仿真/数据：15%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应用层：5%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68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A.3 · 关键决策树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36443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PingFang SC"/>
              </a:rPr>
              <a:t>判断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China-led 35%？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是 →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重押中系全产业链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+ 海外硬件依赖中国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否 → 进入判断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7963" y="1554480"/>
            <a:ext cx="2636443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6563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574"/>
                </a:solidFill>
                <a:latin typeface="PingFang SC"/>
              </a:rPr>
              <a:t>判断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6563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Bifurcation 40-50%？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563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是 →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双线对冲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中系硬件+原材料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+ 美系软件 + NVIDIA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否 → 进入判断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554480"/>
            <a:ext cx="2636443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判断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US-led 15-25%？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1A1A"/>
                </a:solidFill>
                <a:latin typeface="PingFang SC"/>
              </a:rPr>
              <a:t>是 →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重押 Tesla / Figure / Apptronik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+ NVIDIA / FTA 硬件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否 → 观望情景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11" y="1554480"/>
            <a:ext cx="263644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611" y="1554480"/>
            <a:ext cx="2636443" cy="731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211" y="1783080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ingFang SC"/>
              </a:rPr>
              <a:t>默认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211" y="2103120"/>
            <a:ext cx="2179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观望情景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211" y="2743200"/>
            <a:ext cx="2179243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保持现金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+ 少量种子布局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（丝杠/灵巧手/IMU/仿真/数据）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等 2027-2028 兑现窗口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69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A.4 · 投委会必问 Q&amp;A · Top 5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Q1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：出货 85% 是教育/数据采集，工业落地 &lt; 5%，是补贴催生的 GDP 数字？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答：① 教育采购量大但单价低；数据采集是 VLA 训练真实需求 ② 工业 PoC 已闭环（比亚迪 2026 计划 20K 台、空客签约）③ 美国 BMW-Figure / GXO-Agility 真实 RaaS 收入；但承认中国工业 PoC → 规模化仍需 12-18 月验证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Q2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：Tesla 部署 1,000 台 useful work 受质疑，2026 V3 100 万产能不兑现，US-led 概率降到多少？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答：base case Tesla 2030 = 30/200/100 万；如 2026 Q3 &lt; 10K 台/年，US-led 从 25% → 15%，Bifurcation 升至 50%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Q3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：LP 大半在美国，投中系标的政治退出风险如何对冲？humanoid IRA + 中概股退市怎么办？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答：① 美元基金聚焦"中国制造但海外销售"零部件 ② QFII/沪深港通 ③ 二级对冲（做空 Figure / 做多中国零部件）④ 跨境 SPV ⑤ humanoid IRA 出台后美系硬件供应商相对受益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70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A.4 · 投委会必问 Q&amp;A · Top 5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Q4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：宇树/智元 IPO 估值 ¥120-400 亿 是合理还是泡沫？vs 蔚来 IPO？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答：宇树 2025 营收 ¥17 亿 + 扣非净利 ¥6 亿 + 毛利 60.27%，是同期蔚来（亏损）没有的；毛利结构类似 Apple 而非蔚来；DCF sanity $0.46B vs IPO $5.6B = 12× 比值，跟投上限 ¥250 亿为安全锚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Q5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：如果让你只投 3 个标的，押 5 年 IRR &gt; 30%，是哪 3 个？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答：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①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宇树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（A 股 IPO 受理，毛利 60%，DCF 隐含 PSR 锚定）— IRR 5y 35-45%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②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金力永磁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（Tesla Optimus 稀土永磁供应商，3-5 年窗口期，Tesla 锁定保护）— IRR 5y 30-40%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③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仿真/数据基础设施种子轮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（国内对标 NVIDIA Isaac、AgiBot World 类开源数据工厂）— IRR 5y 50%+（10× potential）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71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A.5 · IC Memo 样本 · 智元机器人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公司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：智元机器人 AgiBot（北京 / 上海）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建议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</a:t>
            </a:r>
            <a:r>
              <a:rPr sz="1400" b="0" i="0">
                <a:solidFill>
                  <a:srgbClr val="16A34A"/>
                </a:solidFill>
                <a:latin typeface="PingFang SC"/>
              </a:rPr>
              <a:t>CONDITIONAL PROCEED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 ── Lead 早期布局，限 Pre-IPO 轮持仓 ≤ 基金规模 3%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1. Executive Summary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：中国 2026 估值最高人形整机厂（约 $2.8B+，IPO 锚 $4-7B），创始人彭志辉。2025 首批量产 5,168 台（IDC）。Top 3 risks：① 量产爬坡未经第三方审计 ② 估值已 frothy（但 PSR 20× 接近 EV IPO 中位，相对合理）③ 软件栈相对 Helix/π0 优势不明显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2. Company Overview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：远征 A2 (¥620K) / A2 青春版 (¥168K) / 灵犀 X1 (¥109K)；投资方：腾讯/上汽/京东/比亚迪/红杉/北京机器人基金/上海国资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3. Industry &amp; Market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：占中国 2025 出货 40%、全球 ~30%，Top 1 by IDC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▸ </a:t>
            </a:r>
            <a:r>
              <a:rPr sz="1400" b="1" i="0">
                <a:solidFill>
                  <a:srgbClr val="1A1A1A"/>
                </a:solidFill>
                <a:latin typeface="PingFang SC"/>
              </a:rPr>
              <a:t>4. Financial Analysis</a:t>
            </a:r>
            <a:r>
              <a:rPr sz="1400" b="0" i="0">
                <a:solidFill>
                  <a:srgbClr val="1A1A1A"/>
                </a:solidFill>
                <a:latin typeface="PingFang SC"/>
              </a:rPr>
              <a:t>：[UNSOURCED]——智元未披露完整财务；DD 阶段必拿数据室项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72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A.5 · IC Memo 样本 · 智元 Returns Analysis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8961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Returns Analysis (5y hold)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触发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Exit 估值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Multiple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IRR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MOIC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89611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Bull (China-led 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2027 量产 5 万 + 工业商业化兑现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$35B 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Base (Bifurcation 40%)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2027 量产 2 万 + Tesla 部分兑现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$18B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2.6×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21%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2.6×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96111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Bear (US-led 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2027 量产 &lt; 10K + 美 IRA 出台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0.7×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5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概率加权（35/40/25）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~20%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PingFang SC"/>
                        </a:rPr>
                        <a:t>3.0×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PingFang SC"/>
              </a:rPr>
              <a:t>风险（排序+mitigants）：① 量产 yield — 季度 yield report + 第三方审计权 + ratchet ② 估值泡沫 — IPO &lt; $5B 触发反稀释 ③ 关键人风险 — 4 年 vesting ④ 政策反复 — 海外 GR + FTA hedging · 建议：CONDITIONAL PROCEED 跟投 $20-30M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548640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574"/>
                </a:solidFill>
                <a:latin typeface="PingFang SC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数据来源与引用追溯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PingFang SC"/>
              </a:rPr>
              <a:t>206 条引用 · Tier 1/2/3 分级 · 置信度声明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PingFang SC"/>
              </a:rPr>
              <a:t>73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ingFang SC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74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数据来源 · 206 条引用按 Tier 分级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76218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PingFang SC"/>
              </a:rPr>
              <a:t>Tier 1 · 39%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一手 / 权威机构 · 81 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Goldman Sachs · Morgan Stanley · Citi · BofA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McKinsey · Bain · IDC · IFR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USGS · 工信部 · 中国信通院 · GGII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公司公告 · 招股说明书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arXiv 论文 · BIS 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PingFang SC"/>
              </a:rPr>
              <a:t>Tier 2 · 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券商 / Bloomberg · 84 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中信建投 / 东吴 / 华泰 / 招商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东方 / 安信 / 国信 / 华宝 / 中泰 / 国金 / 民生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Bloomberg · Reuters · The Information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第一财经 · 21 经济网 · 华尔街见闻 · 钛媒体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55448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554480"/>
            <a:ext cx="3576218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17830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PingFang SC"/>
              </a:rPr>
              <a:t>Tier 3 ·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PingFang SC"/>
              </a:rPr>
              <a:t>行业媒体 · 41 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743200"/>
            <a:ext cx="3119018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36 氪 · 量子位 · 机器之心 · 智东西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艾邦机器人 · 机器人大讲堂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知乎专栏 · 行业网站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210 条数据点 / 81 公司档案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PingFang SC"/>
              </a:rPr>
              <a:t>完整 JSON 数据见 data/references.json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附录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PingFang SC"/>
              </a:rPr>
              <a:t>75 /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PingFang SC"/>
              </a:rPr>
              <a:t>STRICTLY PRIVATE &amp;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740"/>
                </a:solidFill>
                <a:latin typeface="PingFang SC"/>
              </a:rPr>
              <a:t>数据置信度声明 · 已知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数据点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报告引用值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置信度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备注</a:t>
                      </a: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2025 全球出货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1.8 万台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IDC、信通院、GGII 三方交叉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中国出货占全球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80-95%（按口径区间）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{orange}Medium{/orange}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IDC ~95% / GGII ~85%（口径差异）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中美 BOM 剪刀差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$46K vs $130K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{orange}Medium{/orange}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MS Humanoid 100；BofA $35K 为压制后口径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AI 估值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$39.5B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High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Figure 官方 + The Information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Skild AI $14B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$14B 在谈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{orange}Medium{/orange}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The Information 报道；未落定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智元 2025 出货 5,168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5,168 台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{orange}Medium{/orange}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IDC 转引；IDC 原报告未公开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三情景概率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35 / 15-25 / 40-50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Analyst Judgment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非市场共识；需 reviewer 校准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humanoid IRA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Policy watchlist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DC2626"/>
                          </a:solidFill>
                          <a:latin typeface="PingFang SC"/>
                        </a:rPr>
                        <a:t>Watchlist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不给单点概率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0574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稀土高性能磁材 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92%+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6A34A"/>
                          </a:solidFill>
                          <a:latin typeface="PingFang SC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USGS + 中国稀土行业协会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中国 550 亿+ 补贴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累计承诺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{orange}Medium{/orange}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PingFang SC"/>
                        </a:rPr>
                        <a:t>"承诺" vs "实际投放" 有差距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ingFang SC"/>
              </a:rPr>
              <a:t>本报告对外严格保密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D4A574"/>
                </a:solidFill>
                <a:latin typeface="PingFang SC"/>
              </a:rPr>
              <a:t>仅供 PE 内部决策使用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PingFang SC"/>
              </a:rPr>
              <a:t>数据截止：2026 年 5 月  |  下次更新：随关键 catalyst 触发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PingFang SC"/>
              </a:rPr>
              <a:t>（Tesla V3 量产 / 中系 IPO / VLA Scaling Law）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4A574"/>
                </a:solidFill>
                <a:latin typeface="PingFang SC"/>
              </a:rPr>
              <a:t>总产出：6 万中文字 · 75 张图表 · 206 引用 · 81 家公司档案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